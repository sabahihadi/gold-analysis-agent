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9" r:id="rId4"/>
    <p:sldId id="259" r:id="rId5"/>
    <p:sldId id="260" r:id="rId6"/>
    <p:sldId id="27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21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50C139-E47A-4587-B30F-D1644F36FCC6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50D79-BC98-49FB-B48B-B68BA86BA2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598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CD828-CCEC-4A71-85A9-3E7EB10E54F8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973E3-AC01-45B8-A495-462EFC3D1347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4E5D-549A-4FBC-9EA9-30B6B9032361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D2080-2FE9-46F6-94C7-AEA997C8E170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C24B1-10EA-411B-A8AC-0EB3F3E74648}" type="datetime1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069EB-58D5-41E3-A344-22AAA7EE80A7}" type="datetime1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4976C-64C3-4079-8E87-CC5DCB0AE2F4}" type="datetime1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C27DF-F934-4691-A520-40D15617A04B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639C4-FD13-4108-93B1-EC54DE94A83D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49A5-4040-4427-8AE7-1D043A482FC3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B9EB-7492-4A6A-9810-D30E7BDDF7B8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7C9F1-626B-41FB-9B86-4C2729457C28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60400"/>
            <a:ext cx="7772400" cy="1470025"/>
          </a:xfrm>
        </p:spPr>
        <p:txBody>
          <a:bodyPr/>
          <a:lstStyle/>
          <a:p>
            <a:r>
              <a:rPr dirty="0"/>
              <a:t>Gold Analysis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416175"/>
            <a:ext cx="6400800" cy="1752600"/>
          </a:xfrm>
        </p:spPr>
        <p:txBody>
          <a:bodyPr/>
          <a:lstStyle/>
          <a:p>
            <a:r>
              <a:rPr dirty="0"/>
              <a:t>AI-powered gold market analysis using Alpha Vantage, news feeds, Gemini LLM, and Streamlit.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5991C74-A5B0-EA39-CA68-0BDD89AC5116}"/>
              </a:ext>
            </a:extLst>
          </p:cNvPr>
          <p:cNvSpPr txBox="1">
            <a:spLocks/>
          </p:cNvSpPr>
          <p:nvPr/>
        </p:nvSpPr>
        <p:spPr>
          <a:xfrm>
            <a:off x="685800" y="4421853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Hadi Sabahi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8B8F69-4102-8EBA-A44A-6BC1FC0E9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Real-time gold data</a:t>
            </a:r>
          </a:p>
          <a:p>
            <a:r>
              <a:rPr dirty="0"/>
              <a:t>News analysis</a:t>
            </a:r>
          </a:p>
          <a:p>
            <a:r>
              <a:rPr dirty="0"/>
              <a:t>LLM-generated insights</a:t>
            </a:r>
          </a:p>
          <a:p>
            <a:r>
              <a:rPr dirty="0"/>
              <a:t>Bilingual support (English/Persian)</a:t>
            </a:r>
          </a:p>
          <a:p>
            <a:r>
              <a:rPr dirty="0"/>
              <a:t>Interactive UI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55C4D-69AB-49C5-0FE1-18167DB6B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116BB04-1FA9-CE1E-7604-04D407702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0" y="381000"/>
            <a:ext cx="9144000" cy="6096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EC4AD4F-68B8-7A21-F041-590D7006B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343" y="4142423"/>
            <a:ext cx="368618" cy="275001"/>
          </a:xfrm>
          <a:prstGeom prst="rect">
            <a:avLst/>
          </a:prstGeom>
        </p:spPr>
      </p:pic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E8FA74A6-BA16-2DD8-0AD0-C0CB89419670}"/>
              </a:ext>
            </a:extLst>
          </p:cNvPr>
          <p:cNvCxnSpPr>
            <a:cxnSpLocks/>
          </p:cNvCxnSpPr>
          <p:nvPr/>
        </p:nvCxnSpPr>
        <p:spPr>
          <a:xfrm rot="10800000">
            <a:off x="3114040" y="4274820"/>
            <a:ext cx="1805940" cy="142604"/>
          </a:xfrm>
          <a:prstGeom prst="curvedConnector3">
            <a:avLst>
              <a:gd name="adj1" fmla="val -211"/>
            </a:avLst>
          </a:prstGeom>
          <a:ln w="95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F21181-DA24-A4D8-BA47-34CFC21FB92B}"/>
              </a:ext>
            </a:extLst>
          </p:cNvPr>
          <p:cNvCxnSpPr/>
          <p:nvPr/>
        </p:nvCxnSpPr>
        <p:spPr>
          <a:xfrm>
            <a:off x="6299200" y="4142423"/>
            <a:ext cx="0" cy="121443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D9EE39-1837-745A-2394-ACF3D4D696D9}"/>
              </a:ext>
            </a:extLst>
          </p:cNvPr>
          <p:cNvCxnSpPr/>
          <p:nvPr/>
        </p:nvCxnSpPr>
        <p:spPr>
          <a:xfrm flipH="1">
            <a:off x="4417060" y="5844540"/>
            <a:ext cx="50292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DA6296F2-892F-AEEC-1B9E-EA04AD05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4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3450" y="7938"/>
            <a:ext cx="5461000" cy="1143000"/>
          </a:xfrm>
        </p:spPr>
        <p:txBody>
          <a:bodyPr/>
          <a:lstStyle/>
          <a:p>
            <a:r>
              <a:rPr lang="en-US" dirty="0"/>
              <a:t>Folder</a:t>
            </a:r>
            <a:r>
              <a:rPr dirty="0"/>
              <a:t>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4B7230-82FF-F489-4552-8F6FD4FAD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9" y="274638"/>
            <a:ext cx="3510833" cy="645636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065CA7-2EDC-EEEB-AE72-9D77191D4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2168"/>
            <a:ext cx="8229600" cy="1143000"/>
          </a:xfrm>
        </p:spPr>
        <p:txBody>
          <a:bodyPr/>
          <a:lstStyle/>
          <a:p>
            <a:r>
              <a:rPr dirty="0"/>
              <a:t>Market Data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600" y="1089818"/>
            <a:ext cx="8229600" cy="4525963"/>
          </a:xfrm>
        </p:spPr>
        <p:txBody>
          <a:bodyPr/>
          <a:lstStyle/>
          <a:p>
            <a:r>
              <a:rPr dirty="0"/>
              <a:t>Alpha Vantage API</a:t>
            </a:r>
          </a:p>
          <a:p>
            <a:r>
              <a:rPr dirty="0"/>
              <a:t>Current gold price</a:t>
            </a:r>
          </a:p>
          <a:p>
            <a:r>
              <a:rPr dirty="0"/>
              <a:t>Historical prices</a:t>
            </a:r>
          </a:p>
          <a:p>
            <a:r>
              <a:rPr dirty="0"/>
              <a:t>Weekly trend calculation</a:t>
            </a:r>
          </a:p>
          <a:p>
            <a:r>
              <a:rPr dirty="0"/>
              <a:t>Chart generation</a:t>
            </a:r>
          </a:p>
        </p:txBody>
      </p:sp>
      <p:pic>
        <p:nvPicPr>
          <p:cNvPr id="6" name="Picture 5" descr="NASDAQ celebrates Alpha Vantage as an exchange-licensed provider of US market data @ NASDAQ Tower, Time Square, New York City">
            <a:extLst>
              <a:ext uri="{FF2B5EF4-FFF2-40B4-BE49-F238E27FC236}">
                <a16:creationId xmlns:a16="http://schemas.microsoft.com/office/drawing/2014/main" id="{92CDAC1B-0354-F48F-F145-AEB6444ED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141" y="1089818"/>
            <a:ext cx="3962759" cy="514349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B39FB-713A-CC6F-F6CD-4D07CB1A8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089DBE-74A3-D9D9-964D-ADBCDD8B4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88" y="1104900"/>
            <a:ext cx="8738423" cy="39751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CA06D-148A-03AA-0BDA-7F388B369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406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News Analysis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TAVILY</a:t>
            </a:r>
          </a:p>
          <a:p>
            <a:r>
              <a:rPr dirty="0"/>
              <a:t>Fetch gold/economic news</a:t>
            </a:r>
          </a:p>
          <a:p>
            <a:r>
              <a:rPr dirty="0"/>
              <a:t>Summarize key events</a:t>
            </a:r>
          </a:p>
          <a:p>
            <a:r>
              <a:rPr dirty="0"/>
              <a:t>Assess impact on gold price</a:t>
            </a:r>
          </a:p>
          <a:p>
            <a:r>
              <a:rPr dirty="0"/>
              <a:t>Provide context to LLM</a:t>
            </a:r>
          </a:p>
        </p:txBody>
      </p:sp>
      <p:pic>
        <p:nvPicPr>
          <p:cNvPr id="4" name="Picture 3" descr="tavily #ai #devrel #aiagents #rag | Shubhendra Singh Chauhan | 49 comments">
            <a:extLst>
              <a:ext uri="{FF2B5EF4-FFF2-40B4-BE49-F238E27FC236}">
                <a16:creationId xmlns:a16="http://schemas.microsoft.com/office/drawing/2014/main" id="{52A2A593-05A9-D6F6-A289-6F3F0F408C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41" t="35126" r="22593" b="36245"/>
          <a:stretch>
            <a:fillRect/>
          </a:stretch>
        </p:blipFill>
        <p:spPr>
          <a:xfrm>
            <a:off x="5595890" y="2116138"/>
            <a:ext cx="3090910" cy="104040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B48C48-26F9-9263-2854-9E07B9B0C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Gemini API</a:t>
            </a:r>
            <a:r>
              <a:rPr lang="en-US" dirty="0"/>
              <a:t>, model="gemini-2.5-flash"</a:t>
            </a:r>
            <a:endParaRPr dirty="0"/>
          </a:p>
          <a:p>
            <a:r>
              <a:rPr dirty="0"/>
              <a:t>Prompt engineering</a:t>
            </a:r>
          </a:p>
          <a:p>
            <a:r>
              <a:rPr dirty="0"/>
              <a:t>Retry logic</a:t>
            </a:r>
            <a:r>
              <a:rPr lang="en-US" dirty="0"/>
              <a:t>, max retries = 4</a:t>
            </a:r>
            <a:endParaRPr dirty="0"/>
          </a:p>
          <a:p>
            <a:r>
              <a:rPr dirty="0"/>
              <a:t>Error handling</a:t>
            </a:r>
          </a:p>
          <a:p>
            <a:r>
              <a:rPr dirty="0"/>
              <a:t>Structured JSON input</a:t>
            </a:r>
          </a:p>
        </p:txBody>
      </p:sp>
      <p:pic>
        <p:nvPicPr>
          <p:cNvPr id="4" name="Picture 3" descr="Using Gemini API keys - Interactions API | Google AI for Developers">
            <a:extLst>
              <a:ext uri="{FF2B5EF4-FFF2-40B4-BE49-F238E27FC236}">
                <a16:creationId xmlns:a16="http://schemas.microsoft.com/office/drawing/2014/main" id="{D31F021D-C35E-692F-188F-15207254B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530" y="2359025"/>
            <a:ext cx="3488669" cy="183197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348E1-B2E6-FDBD-6A8E-B88CC5ED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Streamlit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Chat </a:t>
            </a:r>
            <a:r>
              <a:rPr lang="en-US" dirty="0"/>
              <a:t>i</a:t>
            </a:r>
            <a:r>
              <a:rPr dirty="0"/>
              <a:t>nterface</a:t>
            </a:r>
          </a:p>
          <a:p>
            <a:r>
              <a:rPr dirty="0"/>
              <a:t>Gold price chart</a:t>
            </a:r>
          </a:p>
          <a:p>
            <a:r>
              <a:rPr dirty="0"/>
              <a:t>Conversation history</a:t>
            </a:r>
          </a:p>
          <a:p>
            <a:r>
              <a:rPr dirty="0"/>
              <a:t>English/Persian support</a:t>
            </a:r>
          </a:p>
        </p:txBody>
      </p:sp>
      <p:pic>
        <p:nvPicPr>
          <p:cNvPr id="4" name="Picture 3" descr="🚀 Mastering Streamlit Setup — Part 1: Installing Streamlit via Command  Line (For Beginners) | by Chauhanritika | Python in Plain English">
            <a:extLst>
              <a:ext uri="{FF2B5EF4-FFF2-40B4-BE49-F238E27FC236}">
                <a16:creationId xmlns:a16="http://schemas.microsoft.com/office/drawing/2014/main" id="{908AA636-B829-EFAA-44BD-EA9C28DB8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300" y="1600200"/>
            <a:ext cx="3733923" cy="209685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C963-ECF8-06C8-39C7-2A4DA2B6B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Prompt #1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Q: What is the outlook for gold this week?</a:t>
            </a:r>
          </a:p>
          <a:p>
            <a:r>
              <a:t>A: Gold shows a mildly bullish outlook due to interest-rate expectations and safe-haven demand.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7E396-803A-C42B-AFC2-6B169C190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Prompt #2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Q: What are the effects of geopolitical tensions on gold?</a:t>
            </a:r>
          </a:p>
          <a:p>
            <a:r>
              <a:t>A: Tensions often increase demand for gold as a safe-haven asset.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0A815-0796-94B3-DA99-4E7D0B718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API rate limits </a:t>
            </a:r>
            <a:r>
              <a:rPr lang="en-US" dirty="0">
                <a:solidFill>
                  <a:srgbClr val="FF0000"/>
                </a:solidFill>
              </a:rPr>
              <a:t>→</a:t>
            </a:r>
            <a:r>
              <a:rPr dirty="0"/>
              <a:t> Alpha Vantage</a:t>
            </a:r>
          </a:p>
          <a:p>
            <a:r>
              <a:rPr dirty="0"/>
              <a:t>Gemini quota limits </a:t>
            </a:r>
            <a:r>
              <a:rPr lang="en-US" dirty="0">
                <a:solidFill>
                  <a:srgbClr val="FF0000"/>
                </a:solidFill>
              </a:rPr>
              <a:t>→</a:t>
            </a:r>
            <a:r>
              <a:rPr dirty="0"/>
              <a:t> Retry/Fallback</a:t>
            </a:r>
          </a:p>
          <a:p>
            <a:r>
              <a:rPr dirty="0"/>
              <a:t>History persistence </a:t>
            </a:r>
            <a:r>
              <a:rPr dirty="0">
                <a:solidFill>
                  <a:srgbClr val="FF0000"/>
                </a:solidFill>
              </a:rPr>
              <a:t>→</a:t>
            </a:r>
            <a:r>
              <a:rPr dirty="0"/>
              <a:t> JSON storage</a:t>
            </a:r>
            <a:endParaRPr lang="en-US" dirty="0"/>
          </a:p>
          <a:p>
            <a:r>
              <a:rPr lang="en-US" dirty="0"/>
              <a:t>Sanction Restrictions </a:t>
            </a:r>
            <a:r>
              <a:rPr lang="en-US" dirty="0">
                <a:solidFill>
                  <a:srgbClr val="FF0000"/>
                </a:solidFill>
              </a:rPr>
              <a:t>→ </a:t>
            </a:r>
            <a:r>
              <a:rPr lang="en-US" dirty="0"/>
              <a:t>VPN</a:t>
            </a:r>
            <a:endParaRPr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ABDA5C-A6DE-69AF-DD47-44E6C4EF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Technical indicators</a:t>
            </a:r>
            <a:r>
              <a:rPr lang="en-US" dirty="0"/>
              <a:t> (MA, RSI, MACD, …)</a:t>
            </a:r>
            <a:endParaRPr dirty="0"/>
          </a:p>
          <a:p>
            <a:r>
              <a:rPr dirty="0"/>
              <a:t>Sentiment analysis</a:t>
            </a:r>
          </a:p>
          <a:p>
            <a:r>
              <a:rPr dirty="0"/>
              <a:t>Multi-agent architecture</a:t>
            </a:r>
          </a:p>
          <a:p>
            <a:r>
              <a:rPr dirty="0"/>
              <a:t>Portfolio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74C7-EF11-D8FC-AB70-E1024E75B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Gold Analysis Agent combines market data, news, and LLM reasoning to generate understandable gold-market insights.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E42EC-7BEA-96A2-FEA3-D5940BA85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</TotalTime>
  <Words>253</Words>
  <Application>Microsoft Office PowerPoint</Application>
  <PresentationFormat>On-screen Show (4:3)</PresentationFormat>
  <Paragraphs>65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Gold Analysis Agent</vt:lpstr>
      <vt:lpstr>Project Objectives</vt:lpstr>
      <vt:lpstr>PowerPoint Presentation</vt:lpstr>
      <vt:lpstr>Folder Structure</vt:lpstr>
      <vt:lpstr>Market Data Module</vt:lpstr>
      <vt:lpstr>PowerPoint Presentation</vt:lpstr>
      <vt:lpstr>News Analysis Module</vt:lpstr>
      <vt:lpstr>LLM Engine</vt:lpstr>
      <vt:lpstr>Streamlit Interface</vt:lpstr>
      <vt:lpstr>Sample Prompt #1</vt:lpstr>
      <vt:lpstr>Sample Prompt #2</vt:lpstr>
      <vt:lpstr>Challenges &amp; Solutions</vt:lpstr>
      <vt:lpstr>Future Improvements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Hadi Sabahi</cp:lastModifiedBy>
  <cp:revision>6</cp:revision>
  <dcterms:created xsi:type="dcterms:W3CDTF">2013-01-27T09:14:16Z</dcterms:created>
  <dcterms:modified xsi:type="dcterms:W3CDTF">2026-06-24T15:19:55Z</dcterms:modified>
  <cp:category/>
</cp:coreProperties>
</file>