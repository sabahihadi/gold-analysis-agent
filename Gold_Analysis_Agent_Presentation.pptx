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9" r:id="rId4"/>
    <p:sldId id="259" r:id="rId5"/>
    <p:sldId id="260" r:id="rId6"/>
    <p:sldId id="270" r:id="rId7"/>
    <p:sldId id="261" r:id="rId8"/>
    <p:sldId id="262" r:id="rId9"/>
    <p:sldId id="263" r:id="rId10"/>
    <p:sldId id="271" r:id="rId11"/>
    <p:sldId id="264" r:id="rId12"/>
    <p:sldId id="265" r:id="rId13"/>
    <p:sldId id="272" r:id="rId14"/>
    <p:sldId id="266" r:id="rId15"/>
    <p:sldId id="267" r:id="rId16"/>
    <p:sldId id="26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snapToObjects="1">
      <p:cViewPr varScale="1">
        <p:scale>
          <a:sx n="70" d="100"/>
          <a:sy n="70" d="100"/>
        </p:scale>
        <p:origin x="1368"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50C139-E47A-4587-B30F-D1644F36FCC6}" type="datetimeFigureOut">
              <a:rPr lang="en-US" smtClean="0"/>
              <a:t>6/24/2026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C50D79-BC98-49FB-B48B-B68BA86BA21C}" type="slidenum">
              <a:rPr lang="en-US" smtClean="0"/>
              <a:t>‹#›</a:t>
            </a:fld>
            <a:endParaRPr lang="en-US"/>
          </a:p>
        </p:txBody>
      </p:sp>
    </p:spTree>
    <p:extLst>
      <p:ext uri="{BB962C8B-B14F-4D97-AF65-F5344CB8AC3E}">
        <p14:creationId xmlns:p14="http://schemas.microsoft.com/office/powerpoint/2010/main" val="1866598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3ACD828-CCEC-4A71-85A9-3E7EB10E54F8}"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973E3-AC01-45B8-A495-462EFC3D1347}"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0A4E5D-549A-4FBC-9EA9-30B6B9032361}"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6D2080-2FE9-46F6-94C7-AEA997C8E170}"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CC24B1-10EA-411B-A8AC-0EB3F3E74648}" type="datetime1">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5069EB-58D5-41E3-A344-22AAA7EE80A7}" type="datetime1">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4976C-64C3-4079-8E87-CC5DCB0AE2F4}" type="datetime1">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DC27DF-F934-4691-A520-40D15617A04B}"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5639C4-FD13-4108-93B1-EC54DE94A83D}"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C249A5-4040-4427-8AE7-1D043A482FC3}"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58B9EB-7492-4A6A-9810-D30E7BDDF7B8}"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F7C9F1-626B-41FB-9B86-4C2729457C28}" type="datetime1">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60400"/>
            <a:ext cx="7772400" cy="1470025"/>
          </a:xfrm>
        </p:spPr>
        <p:txBody>
          <a:bodyPr/>
          <a:lstStyle/>
          <a:p>
            <a:r>
              <a:rPr dirty="0"/>
              <a:t>Gold Analysis Agent</a:t>
            </a:r>
          </a:p>
        </p:txBody>
      </p:sp>
      <p:sp>
        <p:nvSpPr>
          <p:cNvPr id="3" name="Subtitle 2"/>
          <p:cNvSpPr>
            <a:spLocks noGrp="1"/>
          </p:cNvSpPr>
          <p:nvPr>
            <p:ph type="subTitle" idx="1"/>
          </p:nvPr>
        </p:nvSpPr>
        <p:spPr>
          <a:xfrm>
            <a:off x="1371600" y="2416175"/>
            <a:ext cx="6400800" cy="1752600"/>
          </a:xfrm>
        </p:spPr>
        <p:txBody>
          <a:bodyPr/>
          <a:lstStyle/>
          <a:p>
            <a:r>
              <a:rPr dirty="0"/>
              <a:t>AI-powered gold market analysis using Alpha Vantage, news feeds, Gemini LLM, and Streamlit.</a:t>
            </a:r>
          </a:p>
        </p:txBody>
      </p:sp>
      <p:sp>
        <p:nvSpPr>
          <p:cNvPr id="4" name="Title 1">
            <a:extLst>
              <a:ext uri="{FF2B5EF4-FFF2-40B4-BE49-F238E27FC236}">
                <a16:creationId xmlns:a16="http://schemas.microsoft.com/office/drawing/2014/main" id="{55991C74-A5B0-EA39-CA68-0BDD89AC5116}"/>
              </a:ext>
            </a:extLst>
          </p:cNvPr>
          <p:cNvSpPr txBox="1">
            <a:spLocks/>
          </p:cNvSpPr>
          <p:nvPr/>
        </p:nvSpPr>
        <p:spPr>
          <a:xfrm>
            <a:off x="685800" y="4421853"/>
            <a:ext cx="7772400" cy="1470025"/>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Hadi Sabahi</a:t>
            </a:r>
          </a:p>
        </p:txBody>
      </p:sp>
      <p:sp>
        <p:nvSpPr>
          <p:cNvPr id="5" name="Slide Number Placeholder 4">
            <a:extLst>
              <a:ext uri="{FF2B5EF4-FFF2-40B4-BE49-F238E27FC236}">
                <a16:creationId xmlns:a16="http://schemas.microsoft.com/office/drawing/2014/main" id="{CD8B8F69-4102-8EBA-A44A-6BC1FC0E9508}"/>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Objectives</a:t>
            </a:r>
          </a:p>
        </p:txBody>
      </p:sp>
      <p:sp>
        <p:nvSpPr>
          <p:cNvPr id="3" name="Content Placeholder 2"/>
          <p:cNvSpPr>
            <a:spLocks noGrp="1"/>
          </p:cNvSpPr>
          <p:nvPr>
            <p:ph idx="1"/>
          </p:nvPr>
        </p:nvSpPr>
        <p:spPr/>
        <p:txBody>
          <a:bodyPr/>
          <a:lstStyle/>
          <a:p>
            <a:r>
              <a:rPr dirty="0"/>
              <a:t>Real-time gold data</a:t>
            </a:r>
          </a:p>
          <a:p>
            <a:r>
              <a:rPr dirty="0"/>
              <a:t>News analysis</a:t>
            </a:r>
          </a:p>
          <a:p>
            <a:r>
              <a:rPr dirty="0"/>
              <a:t>LLM-generated insights</a:t>
            </a:r>
          </a:p>
          <a:p>
            <a:r>
              <a:rPr dirty="0"/>
              <a:t>Bilingual support (English/Persian)</a:t>
            </a:r>
          </a:p>
          <a:p>
            <a:r>
              <a:rPr dirty="0"/>
              <a:t>Interactive UI</a:t>
            </a:r>
          </a:p>
        </p:txBody>
      </p:sp>
      <p:sp>
        <p:nvSpPr>
          <p:cNvPr id="4" name="Slide Number Placeholder 3">
            <a:extLst>
              <a:ext uri="{FF2B5EF4-FFF2-40B4-BE49-F238E27FC236}">
                <a16:creationId xmlns:a16="http://schemas.microsoft.com/office/drawing/2014/main" id="{E7A55C4D-69AB-49C5-0FE1-18167DB6B662}"/>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16BB04-1FA9-CE1E-7604-04D407702BAC}"/>
              </a:ext>
            </a:extLst>
          </p:cNvPr>
          <p:cNvPicPr>
            <a:picLocks noChangeAspect="1"/>
          </p:cNvPicPr>
          <p:nvPr/>
        </p:nvPicPr>
        <p:blipFill>
          <a:blip r:embed="rId2"/>
          <a:stretch>
            <a:fillRect/>
          </a:stretch>
        </p:blipFill>
        <p:spPr>
          <a:xfrm>
            <a:off x="-2540" y="381000"/>
            <a:ext cx="9144000" cy="6096000"/>
          </a:xfrm>
          <a:prstGeom prst="rect">
            <a:avLst/>
          </a:prstGeom>
        </p:spPr>
      </p:pic>
      <p:pic>
        <p:nvPicPr>
          <p:cNvPr id="13" name="Picture 12">
            <a:extLst>
              <a:ext uri="{FF2B5EF4-FFF2-40B4-BE49-F238E27FC236}">
                <a16:creationId xmlns:a16="http://schemas.microsoft.com/office/drawing/2014/main" id="{EEC4AD4F-68B8-7A21-F041-590D7006BD1E}"/>
              </a:ext>
            </a:extLst>
          </p:cNvPr>
          <p:cNvPicPr>
            <a:picLocks noChangeAspect="1"/>
          </p:cNvPicPr>
          <p:nvPr/>
        </p:nvPicPr>
        <p:blipFill>
          <a:blip r:embed="rId3"/>
          <a:stretch>
            <a:fillRect/>
          </a:stretch>
        </p:blipFill>
        <p:spPr>
          <a:xfrm>
            <a:off x="2867343" y="4142423"/>
            <a:ext cx="368618" cy="275001"/>
          </a:xfrm>
          <a:prstGeom prst="rect">
            <a:avLst/>
          </a:prstGeom>
        </p:spPr>
      </p:pic>
      <p:cxnSp>
        <p:nvCxnSpPr>
          <p:cNvPr id="17" name="Connector: Curved 16">
            <a:extLst>
              <a:ext uri="{FF2B5EF4-FFF2-40B4-BE49-F238E27FC236}">
                <a16:creationId xmlns:a16="http://schemas.microsoft.com/office/drawing/2014/main" id="{E8FA74A6-BA16-2DD8-0AD0-C0CB89419670}"/>
              </a:ext>
            </a:extLst>
          </p:cNvPr>
          <p:cNvCxnSpPr>
            <a:cxnSpLocks/>
          </p:cNvCxnSpPr>
          <p:nvPr/>
        </p:nvCxnSpPr>
        <p:spPr>
          <a:xfrm rot="10800000">
            <a:off x="3114040" y="4274820"/>
            <a:ext cx="1805940" cy="142604"/>
          </a:xfrm>
          <a:prstGeom prst="curvedConnector3">
            <a:avLst>
              <a:gd name="adj1" fmla="val -211"/>
            </a:avLst>
          </a:prstGeom>
          <a:ln w="9525">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9F21181-DA24-A4D8-BA47-34CFC21FB92B}"/>
              </a:ext>
            </a:extLst>
          </p:cNvPr>
          <p:cNvCxnSpPr/>
          <p:nvPr/>
        </p:nvCxnSpPr>
        <p:spPr>
          <a:xfrm>
            <a:off x="6299200" y="4142423"/>
            <a:ext cx="0" cy="121443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9D9EE39-1837-745A-2394-ACF3D4D696D9}"/>
              </a:ext>
            </a:extLst>
          </p:cNvPr>
          <p:cNvCxnSpPr/>
          <p:nvPr/>
        </p:nvCxnSpPr>
        <p:spPr>
          <a:xfrm flipH="1">
            <a:off x="4417060" y="5844540"/>
            <a:ext cx="502920" cy="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Slide Number Placeholder 23">
            <a:extLst>
              <a:ext uri="{FF2B5EF4-FFF2-40B4-BE49-F238E27FC236}">
                <a16:creationId xmlns:a16="http://schemas.microsoft.com/office/drawing/2014/main" id="{DA6296F2-892F-AEEC-1B9E-EA04AD05DF72}"/>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1966940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3450" y="7938"/>
            <a:ext cx="5461000" cy="1143000"/>
          </a:xfrm>
        </p:spPr>
        <p:txBody>
          <a:bodyPr/>
          <a:lstStyle/>
          <a:p>
            <a:r>
              <a:rPr lang="en-US" dirty="0"/>
              <a:t>Folder</a:t>
            </a:r>
            <a:r>
              <a:rPr dirty="0"/>
              <a:t> Structure</a:t>
            </a:r>
          </a:p>
        </p:txBody>
      </p:sp>
      <p:pic>
        <p:nvPicPr>
          <p:cNvPr id="7" name="Picture 6">
            <a:extLst>
              <a:ext uri="{FF2B5EF4-FFF2-40B4-BE49-F238E27FC236}">
                <a16:creationId xmlns:a16="http://schemas.microsoft.com/office/drawing/2014/main" id="{544B7230-82FF-F489-4552-8F6FD4FADB00}"/>
              </a:ext>
            </a:extLst>
          </p:cNvPr>
          <p:cNvPicPr>
            <a:picLocks noChangeAspect="1"/>
          </p:cNvPicPr>
          <p:nvPr/>
        </p:nvPicPr>
        <p:blipFill>
          <a:blip r:embed="rId2"/>
          <a:stretch>
            <a:fillRect/>
          </a:stretch>
        </p:blipFill>
        <p:spPr>
          <a:xfrm>
            <a:off x="209549" y="274638"/>
            <a:ext cx="3510833" cy="6456362"/>
          </a:xfrm>
          <a:prstGeom prst="rect">
            <a:avLst/>
          </a:prstGeom>
        </p:spPr>
      </p:pic>
      <p:sp>
        <p:nvSpPr>
          <p:cNvPr id="10" name="Slide Number Placeholder 9">
            <a:extLst>
              <a:ext uri="{FF2B5EF4-FFF2-40B4-BE49-F238E27FC236}">
                <a16:creationId xmlns:a16="http://schemas.microsoft.com/office/drawing/2014/main" id="{CC065CA7-2EDC-EEEB-AE72-9D77191D4DE0}"/>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168"/>
            <a:ext cx="8229600" cy="1143000"/>
          </a:xfrm>
        </p:spPr>
        <p:txBody>
          <a:bodyPr/>
          <a:lstStyle/>
          <a:p>
            <a:r>
              <a:rPr dirty="0"/>
              <a:t>Market Data Module</a:t>
            </a:r>
          </a:p>
        </p:txBody>
      </p:sp>
      <p:sp>
        <p:nvSpPr>
          <p:cNvPr id="3" name="Content Placeholder 2"/>
          <p:cNvSpPr>
            <a:spLocks noGrp="1"/>
          </p:cNvSpPr>
          <p:nvPr>
            <p:ph idx="1"/>
          </p:nvPr>
        </p:nvSpPr>
        <p:spPr>
          <a:xfrm>
            <a:off x="355600" y="1089818"/>
            <a:ext cx="8229600" cy="4525963"/>
          </a:xfrm>
        </p:spPr>
        <p:txBody>
          <a:bodyPr/>
          <a:lstStyle/>
          <a:p>
            <a:r>
              <a:rPr dirty="0"/>
              <a:t>Alpha Vantage API</a:t>
            </a:r>
          </a:p>
          <a:p>
            <a:r>
              <a:rPr dirty="0"/>
              <a:t>Current gold price</a:t>
            </a:r>
          </a:p>
          <a:p>
            <a:r>
              <a:rPr dirty="0"/>
              <a:t>Historical prices</a:t>
            </a:r>
          </a:p>
          <a:p>
            <a:r>
              <a:rPr dirty="0"/>
              <a:t>Weekly trend calculation</a:t>
            </a:r>
          </a:p>
          <a:p>
            <a:r>
              <a:rPr dirty="0"/>
              <a:t>Chart generation</a:t>
            </a:r>
          </a:p>
        </p:txBody>
      </p:sp>
      <p:pic>
        <p:nvPicPr>
          <p:cNvPr id="6" name="Picture 5" descr="NASDAQ celebrates Alpha Vantage as an exchange-licensed provider of US market data @ NASDAQ Tower, Time Square, New York City">
            <a:extLst>
              <a:ext uri="{FF2B5EF4-FFF2-40B4-BE49-F238E27FC236}">
                <a16:creationId xmlns:a16="http://schemas.microsoft.com/office/drawing/2014/main" id="{92CDAC1B-0354-F48F-F145-AEB6444EDF1A}"/>
              </a:ext>
            </a:extLst>
          </p:cNvPr>
          <p:cNvPicPr>
            <a:picLocks noChangeAspect="1"/>
          </p:cNvPicPr>
          <p:nvPr/>
        </p:nvPicPr>
        <p:blipFill>
          <a:blip r:embed="rId2"/>
          <a:stretch>
            <a:fillRect/>
          </a:stretch>
        </p:blipFill>
        <p:spPr>
          <a:xfrm>
            <a:off x="5016141" y="1089818"/>
            <a:ext cx="3962759" cy="5143499"/>
          </a:xfrm>
          <a:prstGeom prst="rect">
            <a:avLst/>
          </a:prstGeom>
        </p:spPr>
      </p:pic>
      <p:sp>
        <p:nvSpPr>
          <p:cNvPr id="7" name="Slide Number Placeholder 6">
            <a:extLst>
              <a:ext uri="{FF2B5EF4-FFF2-40B4-BE49-F238E27FC236}">
                <a16:creationId xmlns:a16="http://schemas.microsoft.com/office/drawing/2014/main" id="{583B39FB-713A-CC6F-F6CD-4D07CB1A8342}"/>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089DBE-74A3-D9D9-964D-ADBCDD8B414C}"/>
              </a:ext>
            </a:extLst>
          </p:cNvPr>
          <p:cNvPicPr>
            <a:picLocks noChangeAspect="1"/>
          </p:cNvPicPr>
          <p:nvPr/>
        </p:nvPicPr>
        <p:blipFill>
          <a:blip r:embed="rId2"/>
          <a:stretch>
            <a:fillRect/>
          </a:stretch>
        </p:blipFill>
        <p:spPr>
          <a:xfrm>
            <a:off x="202788" y="1104900"/>
            <a:ext cx="8738423" cy="3975100"/>
          </a:xfrm>
          <a:prstGeom prst="rect">
            <a:avLst/>
          </a:prstGeom>
        </p:spPr>
      </p:pic>
      <p:sp>
        <p:nvSpPr>
          <p:cNvPr id="6" name="Slide Number Placeholder 5">
            <a:extLst>
              <a:ext uri="{FF2B5EF4-FFF2-40B4-BE49-F238E27FC236}">
                <a16:creationId xmlns:a16="http://schemas.microsoft.com/office/drawing/2014/main" id="{3B4CA06D-148A-03AA-0BDA-7F388B369EBF}"/>
              </a:ext>
            </a:extLst>
          </p:cNvPr>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1735406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News Analysis Module</a:t>
            </a:r>
          </a:p>
        </p:txBody>
      </p:sp>
      <p:sp>
        <p:nvSpPr>
          <p:cNvPr id="3" name="Content Placeholder 2"/>
          <p:cNvSpPr>
            <a:spLocks noGrp="1"/>
          </p:cNvSpPr>
          <p:nvPr>
            <p:ph idx="1"/>
          </p:nvPr>
        </p:nvSpPr>
        <p:spPr/>
        <p:txBody>
          <a:bodyPr/>
          <a:lstStyle/>
          <a:p>
            <a:r>
              <a:rPr lang="en-US" dirty="0"/>
              <a:t>TAVILY</a:t>
            </a:r>
          </a:p>
          <a:p>
            <a:r>
              <a:rPr dirty="0"/>
              <a:t>Fetch gold/economic news</a:t>
            </a:r>
          </a:p>
          <a:p>
            <a:r>
              <a:rPr dirty="0"/>
              <a:t>Summarize key events</a:t>
            </a:r>
          </a:p>
          <a:p>
            <a:r>
              <a:rPr dirty="0"/>
              <a:t>Assess impact on gold price</a:t>
            </a:r>
          </a:p>
          <a:p>
            <a:r>
              <a:rPr dirty="0"/>
              <a:t>Provide context to LLM</a:t>
            </a:r>
          </a:p>
        </p:txBody>
      </p:sp>
      <p:pic>
        <p:nvPicPr>
          <p:cNvPr id="4" name="Picture 3" descr="tavily #ai #devrel #aiagents #rag | Shubhendra Singh Chauhan | 49 comments">
            <a:extLst>
              <a:ext uri="{FF2B5EF4-FFF2-40B4-BE49-F238E27FC236}">
                <a16:creationId xmlns:a16="http://schemas.microsoft.com/office/drawing/2014/main" id="{52A2A593-05A9-D6F6-A289-6F3F0F408C2B}"/>
              </a:ext>
            </a:extLst>
          </p:cNvPr>
          <p:cNvPicPr>
            <a:picLocks noChangeAspect="1"/>
          </p:cNvPicPr>
          <p:nvPr/>
        </p:nvPicPr>
        <p:blipFill>
          <a:blip r:embed="rId2"/>
          <a:srcRect l="20741" t="35126" r="22593" b="36245"/>
          <a:stretch>
            <a:fillRect/>
          </a:stretch>
        </p:blipFill>
        <p:spPr>
          <a:xfrm>
            <a:off x="5595890" y="2116138"/>
            <a:ext cx="3090910" cy="1040404"/>
          </a:xfrm>
          <a:prstGeom prst="rect">
            <a:avLst/>
          </a:prstGeom>
        </p:spPr>
      </p:pic>
      <p:sp>
        <p:nvSpPr>
          <p:cNvPr id="5" name="Slide Number Placeholder 4">
            <a:extLst>
              <a:ext uri="{FF2B5EF4-FFF2-40B4-BE49-F238E27FC236}">
                <a16:creationId xmlns:a16="http://schemas.microsoft.com/office/drawing/2014/main" id="{82B48C48-26F9-9263-2854-9E07B9B0C33B}"/>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LLM Engine</a:t>
            </a:r>
          </a:p>
        </p:txBody>
      </p:sp>
      <p:sp>
        <p:nvSpPr>
          <p:cNvPr id="3" name="Content Placeholder 2"/>
          <p:cNvSpPr>
            <a:spLocks noGrp="1"/>
          </p:cNvSpPr>
          <p:nvPr>
            <p:ph idx="1"/>
          </p:nvPr>
        </p:nvSpPr>
        <p:spPr/>
        <p:txBody>
          <a:bodyPr/>
          <a:lstStyle/>
          <a:p>
            <a:r>
              <a:rPr dirty="0"/>
              <a:t>Gemini API</a:t>
            </a:r>
            <a:r>
              <a:rPr lang="en-US" dirty="0"/>
              <a:t>, model="gemini-2.5-flash-lite"</a:t>
            </a:r>
            <a:endParaRPr dirty="0"/>
          </a:p>
          <a:p>
            <a:r>
              <a:rPr dirty="0"/>
              <a:t>Prompt engineering</a:t>
            </a:r>
          </a:p>
          <a:p>
            <a:r>
              <a:rPr dirty="0"/>
              <a:t>Retry logic</a:t>
            </a:r>
            <a:r>
              <a:rPr lang="en-US" dirty="0"/>
              <a:t>, max retries = 4</a:t>
            </a:r>
            <a:endParaRPr dirty="0"/>
          </a:p>
          <a:p>
            <a:r>
              <a:rPr dirty="0"/>
              <a:t>Error handling</a:t>
            </a:r>
          </a:p>
          <a:p>
            <a:r>
              <a:rPr dirty="0"/>
              <a:t>Structured JSON input</a:t>
            </a:r>
          </a:p>
        </p:txBody>
      </p:sp>
      <p:pic>
        <p:nvPicPr>
          <p:cNvPr id="4" name="Picture 3" descr="Using Gemini API keys - Interactions API | Google AI for Developers">
            <a:extLst>
              <a:ext uri="{FF2B5EF4-FFF2-40B4-BE49-F238E27FC236}">
                <a16:creationId xmlns:a16="http://schemas.microsoft.com/office/drawing/2014/main" id="{D31F021D-C35E-692F-188F-15207254B9AB}"/>
              </a:ext>
            </a:extLst>
          </p:cNvPr>
          <p:cNvPicPr>
            <a:picLocks noChangeAspect="1"/>
          </p:cNvPicPr>
          <p:nvPr/>
        </p:nvPicPr>
        <p:blipFill>
          <a:blip r:embed="rId2"/>
          <a:stretch>
            <a:fillRect/>
          </a:stretch>
        </p:blipFill>
        <p:spPr>
          <a:xfrm>
            <a:off x="5477530" y="2359025"/>
            <a:ext cx="3488669" cy="1831975"/>
          </a:xfrm>
          <a:prstGeom prst="rect">
            <a:avLst/>
          </a:prstGeom>
        </p:spPr>
      </p:pic>
      <p:sp>
        <p:nvSpPr>
          <p:cNvPr id="5" name="Slide Number Placeholder 4">
            <a:extLst>
              <a:ext uri="{FF2B5EF4-FFF2-40B4-BE49-F238E27FC236}">
                <a16:creationId xmlns:a16="http://schemas.microsoft.com/office/drawing/2014/main" id="{724348E1-B2E6-FDBD-6A8E-B88CC5ED5C22}"/>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Streamlit Interface</a:t>
            </a:r>
          </a:p>
        </p:txBody>
      </p:sp>
      <p:sp>
        <p:nvSpPr>
          <p:cNvPr id="3" name="Content Placeholder 2"/>
          <p:cNvSpPr>
            <a:spLocks noGrp="1"/>
          </p:cNvSpPr>
          <p:nvPr>
            <p:ph idx="1"/>
          </p:nvPr>
        </p:nvSpPr>
        <p:spPr/>
        <p:txBody>
          <a:bodyPr/>
          <a:lstStyle/>
          <a:p>
            <a:r>
              <a:rPr dirty="0"/>
              <a:t>Chat </a:t>
            </a:r>
            <a:r>
              <a:rPr lang="en-US" dirty="0"/>
              <a:t>i</a:t>
            </a:r>
            <a:r>
              <a:rPr dirty="0"/>
              <a:t>nterface</a:t>
            </a:r>
          </a:p>
          <a:p>
            <a:r>
              <a:rPr dirty="0"/>
              <a:t>Gold price chart</a:t>
            </a:r>
          </a:p>
          <a:p>
            <a:r>
              <a:rPr dirty="0"/>
              <a:t>Conversation history</a:t>
            </a:r>
          </a:p>
          <a:p>
            <a:r>
              <a:rPr dirty="0"/>
              <a:t>English/Persian support</a:t>
            </a:r>
          </a:p>
        </p:txBody>
      </p:sp>
      <p:pic>
        <p:nvPicPr>
          <p:cNvPr id="4" name="Picture 3" descr="🚀 Mastering Streamlit Setup — Part 1: Installing Streamlit via Command  Line (For Beginners) | by Chauhanritika | Python in Plain English">
            <a:extLst>
              <a:ext uri="{FF2B5EF4-FFF2-40B4-BE49-F238E27FC236}">
                <a16:creationId xmlns:a16="http://schemas.microsoft.com/office/drawing/2014/main" id="{908AA636-B829-EFAA-44BD-EA9C28DB821D}"/>
              </a:ext>
            </a:extLst>
          </p:cNvPr>
          <p:cNvPicPr>
            <a:picLocks noChangeAspect="1"/>
          </p:cNvPicPr>
          <p:nvPr/>
        </p:nvPicPr>
        <p:blipFill>
          <a:blip r:embed="rId2"/>
          <a:stretch>
            <a:fillRect/>
          </a:stretch>
        </p:blipFill>
        <p:spPr>
          <a:xfrm>
            <a:off x="5194300" y="1600200"/>
            <a:ext cx="3733923" cy="2096858"/>
          </a:xfrm>
          <a:prstGeom prst="rect">
            <a:avLst/>
          </a:prstGeom>
        </p:spPr>
      </p:pic>
      <p:sp>
        <p:nvSpPr>
          <p:cNvPr id="5" name="Slide Number Placeholder 4">
            <a:extLst>
              <a:ext uri="{FF2B5EF4-FFF2-40B4-BE49-F238E27FC236}">
                <a16:creationId xmlns:a16="http://schemas.microsoft.com/office/drawing/2014/main" id="{3D2BC963-ECF8-06C8-39C7-2A4DA2B6BBB5}"/>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6D95-70C6-CF7F-571D-A0AF4C64CFF4}"/>
              </a:ext>
            </a:extLst>
          </p:cNvPr>
          <p:cNvSpPr>
            <a:spLocks noGrp="1"/>
          </p:cNvSpPr>
          <p:nvPr>
            <p:ph type="title"/>
          </p:nvPr>
        </p:nvSpPr>
        <p:spPr>
          <a:xfrm>
            <a:off x="457200" y="274638"/>
            <a:ext cx="8229600" cy="557875"/>
          </a:xfrm>
        </p:spPr>
        <p:txBody>
          <a:bodyPr>
            <a:normAutofit fontScale="90000"/>
          </a:bodyPr>
          <a:lstStyle/>
          <a:p>
            <a:r>
              <a:rPr lang="en-US" dirty="0"/>
              <a:t>Sample Prompt #1</a:t>
            </a:r>
          </a:p>
        </p:txBody>
      </p:sp>
      <p:sp>
        <p:nvSpPr>
          <p:cNvPr id="3" name="Content Placeholder 2">
            <a:extLst>
              <a:ext uri="{FF2B5EF4-FFF2-40B4-BE49-F238E27FC236}">
                <a16:creationId xmlns:a16="http://schemas.microsoft.com/office/drawing/2014/main" id="{15399CFD-B49F-DB41-4D3E-0C4B08754192}"/>
              </a:ext>
            </a:extLst>
          </p:cNvPr>
          <p:cNvSpPr>
            <a:spLocks noGrp="1"/>
          </p:cNvSpPr>
          <p:nvPr>
            <p:ph idx="1"/>
          </p:nvPr>
        </p:nvSpPr>
        <p:spPr>
          <a:xfrm>
            <a:off x="310486" y="1045737"/>
            <a:ext cx="8710684" cy="5537625"/>
          </a:xfrm>
        </p:spPr>
        <p:txBody>
          <a:bodyPr>
            <a:normAutofit fontScale="92500" lnSpcReduction="10000"/>
          </a:bodyPr>
          <a:lstStyle/>
          <a:p>
            <a:r>
              <a:rPr lang="en-US" sz="1600" dirty="0"/>
              <a:t>Q: What impact is the current strength of the US Dollar Index (DXY) having on gold?</a:t>
            </a:r>
          </a:p>
          <a:p>
            <a:r>
              <a:rPr lang="en-US" sz="1600" dirty="0"/>
              <a:t>A:  The current strength of the US Dollar Index (DXY) is exerting downward pressure on gold prices.</a:t>
            </a:r>
          </a:p>
          <a:p>
            <a:r>
              <a:rPr lang="en-US" sz="1600" b="1" dirty="0"/>
              <a:t>Market Trend:</a:t>
            </a:r>
            <a:r>
              <a:rPr lang="en-US" sz="1600" dirty="0"/>
              <a:t> Gold prices have experienced a significant decline, tumbling more than 3% to below $4,000 per ounce, reaching their lowest level since November 2025. The weekly change for gold shows a decrease of 3.06%.</a:t>
            </a:r>
          </a:p>
          <a:p>
            <a:r>
              <a:rPr lang="en-US" sz="1600" b="1" dirty="0"/>
              <a:t>Key Drivers:</a:t>
            </a:r>
            <a:endParaRPr lang="en-US" sz="1600" dirty="0"/>
          </a:p>
          <a:p>
            <a:pPr lvl="1"/>
            <a:r>
              <a:rPr lang="en-US" sz="1400" b="1" dirty="0"/>
              <a:t>Stronger US Dollar:</a:t>
            </a:r>
            <a:r>
              <a:rPr lang="en-US" sz="1400" dirty="0"/>
              <a:t> A stronger dollar generally makes gold, which is priced in dollars, more expensive for holders of other currencies, thus reducing demand. The DXY itself has shown upward movement in some data points.</a:t>
            </a:r>
          </a:p>
          <a:p>
            <a:pPr lvl="1"/>
            <a:r>
              <a:rPr lang="en-US" sz="1400" b="1" dirty="0"/>
              <a:t>Hawkish Fed Expectations:</a:t>
            </a:r>
            <a:r>
              <a:rPr lang="en-US" sz="1400" dirty="0"/>
              <a:t> Growing expectations of further interest rate hikes by the Federal Reserve are a significant driver. Markets are increasingly pricing in a Fed rate hike in September, which increases the attractiveness of dollar-denominated assets and higher-yielding investments over non-yielding gold. The traditional inverse relationship between interest rates and gold prices is highlighted in the provided news.</a:t>
            </a:r>
          </a:p>
          <a:p>
            <a:pPr lvl="1"/>
            <a:r>
              <a:rPr lang="en-US" sz="1400" b="1" dirty="0"/>
              <a:t>Diminished Safe-Haven Appeal:</a:t>
            </a:r>
            <a:r>
              <a:rPr lang="en-US" sz="1400" dirty="0"/>
              <a:t> Despite geopolitical uncertainties, gold has struggled to act as a traditional safe haven, further contributing to its price weakness.</a:t>
            </a:r>
          </a:p>
          <a:p>
            <a:r>
              <a:rPr lang="en-US" sz="1600" b="1" dirty="0"/>
              <a:t>Risks:</a:t>
            </a:r>
            <a:endParaRPr lang="en-US" sz="1600" dirty="0"/>
          </a:p>
          <a:p>
            <a:pPr lvl="1"/>
            <a:r>
              <a:rPr lang="en-US" sz="1400" b="1" dirty="0"/>
              <a:t>Further Dollar Strength:</a:t>
            </a:r>
            <a:r>
              <a:rPr lang="en-US" sz="1400" dirty="0"/>
              <a:t> Continued appreciation of the US Dollar could lead to further price erosion for gold.</a:t>
            </a:r>
          </a:p>
          <a:p>
            <a:pPr lvl="1"/>
            <a:r>
              <a:rPr lang="en-US" sz="1400" b="1" dirty="0"/>
              <a:t>Aggressive Fed Policy:</a:t>
            </a:r>
            <a:r>
              <a:rPr lang="en-US" sz="1400" dirty="0"/>
              <a:t> More hawkish-than-expected monetary policy from the Federal Reserve could exacerbate the negative sentiment for gold.</a:t>
            </a:r>
          </a:p>
          <a:p>
            <a:pPr lvl="1"/>
            <a:r>
              <a:rPr lang="en-US" sz="1400" b="1" dirty="0"/>
              <a:t>Geopolitical Escalation:</a:t>
            </a:r>
            <a:r>
              <a:rPr lang="en-US" sz="1400" dirty="0"/>
              <a:t> While currently not supporting gold, a significant escalation in geopolitical tensions could potentially shift sentiment and drive demand for safe-haven assets, though this is not the current trend.</a:t>
            </a:r>
          </a:p>
          <a:p>
            <a:r>
              <a:rPr lang="en-US" sz="1600" b="1" dirty="0"/>
              <a:t>Short-Term Outlook:</a:t>
            </a:r>
            <a:r>
              <a:rPr lang="en-US" sz="1600" dirty="0"/>
              <a:t> The immediate outlook for gold appears challenging as long as the US Dollar remains strong and the Federal Reserve signals a hawkish stance. The combination of these factors is likely to continue weighing on gold prices. However, the exact trajectory will depend on evolving Fed policy expectations and any significant shifts in geopolitical events.</a:t>
            </a:r>
          </a:p>
          <a:p>
            <a:endParaRPr lang="en-US" sz="1600" dirty="0"/>
          </a:p>
        </p:txBody>
      </p:sp>
      <p:sp>
        <p:nvSpPr>
          <p:cNvPr id="4" name="Slide Number Placeholder 3">
            <a:extLst>
              <a:ext uri="{FF2B5EF4-FFF2-40B4-BE49-F238E27FC236}">
                <a16:creationId xmlns:a16="http://schemas.microsoft.com/office/drawing/2014/main" id="{67320E39-FB22-F951-C36C-46FA903517DF}"/>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3067208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8001"/>
          </a:xfrm>
        </p:spPr>
        <p:txBody>
          <a:bodyPr>
            <a:normAutofit fontScale="90000"/>
          </a:bodyPr>
          <a:lstStyle/>
          <a:p>
            <a:r>
              <a:rPr dirty="0"/>
              <a:t>Sample Prompt #</a:t>
            </a:r>
            <a:r>
              <a:rPr lang="en-US" dirty="0"/>
              <a:t>2</a:t>
            </a:r>
            <a:endParaRPr dirty="0"/>
          </a:p>
        </p:txBody>
      </p:sp>
      <p:sp>
        <p:nvSpPr>
          <p:cNvPr id="3" name="Content Placeholder 2"/>
          <p:cNvSpPr>
            <a:spLocks noGrp="1"/>
          </p:cNvSpPr>
          <p:nvPr>
            <p:ph idx="1"/>
          </p:nvPr>
        </p:nvSpPr>
        <p:spPr>
          <a:xfrm>
            <a:off x="457200" y="1166018"/>
            <a:ext cx="8229600" cy="4934531"/>
          </a:xfrm>
        </p:spPr>
        <p:txBody>
          <a:bodyPr>
            <a:normAutofit fontScale="92500"/>
          </a:bodyPr>
          <a:lstStyle/>
          <a:p>
            <a:r>
              <a:rPr sz="1400" dirty="0"/>
              <a:t>Q: What is the outlook for gold this week?</a:t>
            </a:r>
          </a:p>
          <a:p>
            <a:r>
              <a:rPr sz="1400" dirty="0"/>
              <a:t>A:</a:t>
            </a:r>
            <a:r>
              <a:rPr lang="en-US" sz="1400" dirty="0"/>
              <a:t> The gold market has experienced a significant downturn, with prices tumbling over 3% this week to their lowest level since November 2025. The current price of $4060.07 reflects a substantial weekly decline of 3.06%.</a:t>
            </a:r>
          </a:p>
          <a:p>
            <a:r>
              <a:rPr lang="en-US" sz="1400" b="1" dirty="0"/>
              <a:t>Key Drivers:</a:t>
            </a:r>
            <a:endParaRPr lang="en-US" sz="1400" dirty="0"/>
          </a:p>
          <a:p>
            <a:r>
              <a:rPr lang="en-US" sz="1400" b="1" dirty="0"/>
              <a:t>Hawkish Fed Expectations:</a:t>
            </a:r>
            <a:r>
              <a:rPr lang="en-US" sz="1400" dirty="0"/>
              <a:t> Growing expectations that the Federal Reserve will maintain a hawkish stance, with traders increasingly betting on an interest-rate increase later this year, are pressuring gold. The probability of a Fed rate hike in September has significantly increased.</a:t>
            </a:r>
          </a:p>
          <a:p>
            <a:r>
              <a:rPr lang="en-US" sz="1400" b="1" dirty="0"/>
              <a:t>Stronger US Dollar:</a:t>
            </a:r>
            <a:r>
              <a:rPr lang="en-US" sz="1400" dirty="0"/>
              <a:t> A stronger US dollar is a primary headwind for gold, as the two assets often move inversely.</a:t>
            </a:r>
          </a:p>
          <a:p>
            <a:r>
              <a:rPr lang="en-US" sz="1400" b="1" dirty="0"/>
              <a:t>Geopolitical Uncertainty:</a:t>
            </a:r>
            <a:r>
              <a:rPr lang="en-US" sz="1400" dirty="0"/>
              <a:t> Despite heightened geopolitical uncertainty, gold has struggled to act as a traditional safe-haven asset, indicating a shift in market sentiment or other dominant factors.</a:t>
            </a:r>
          </a:p>
          <a:p>
            <a:r>
              <a:rPr lang="en-US" sz="1400" b="1" dirty="0"/>
              <a:t>Risks:</a:t>
            </a:r>
            <a:endParaRPr lang="en-US" sz="1400" dirty="0"/>
          </a:p>
          <a:p>
            <a:r>
              <a:rPr lang="en-US" sz="1400" b="1" dirty="0"/>
              <a:t>Further Rate Hikes:</a:t>
            </a:r>
            <a:r>
              <a:rPr lang="en-US" sz="1400" dirty="0"/>
              <a:t> Continued hawkish rhetoric or actual rate hikes from the Fed would likely exert further downward pressure on gold prices.</a:t>
            </a:r>
          </a:p>
          <a:p>
            <a:r>
              <a:rPr lang="en-US" sz="1400" b="1" dirty="0"/>
              <a:t>Dollar Strength:</a:t>
            </a:r>
            <a:r>
              <a:rPr lang="en-US" sz="1400" dirty="0"/>
              <a:t> Sustained strength in the US dollar poses an ongoing risk to gold's valuation.</a:t>
            </a:r>
          </a:p>
          <a:p>
            <a:r>
              <a:rPr lang="en-US" sz="1400" b="1" dirty="0"/>
              <a:t>Diminished Safe-Haven Appeal:</a:t>
            </a:r>
            <a:r>
              <a:rPr lang="en-US" sz="1400" dirty="0"/>
              <a:t> The market's current disinterest in gold as a safe haven during geopolitical events suggests that this traditional driver may be less impactful in the short term.</a:t>
            </a:r>
          </a:p>
          <a:p>
            <a:r>
              <a:rPr lang="en-US" sz="1400" b="1" dirty="0"/>
              <a:t>Short-Term Outlook:</a:t>
            </a:r>
            <a:endParaRPr lang="en-US" sz="1400" dirty="0"/>
          </a:p>
          <a:p>
            <a:r>
              <a:rPr lang="en-US" sz="1400" dirty="0"/>
              <a:t>The immediate outlook for gold appears challenging. The combination of increasing odds of Fed rate hikes and a strengthening US dollar suggests that downward pressure may persist. While geopolitical tensions could theoretically offer support, current market behavior indicates this is not a dominant factor. The market is closely watching inflation data and Fed commentary for any shifts in policy expectations. The current trend suggests a cautious sentiment for gold in the near term.</a:t>
            </a:r>
          </a:p>
        </p:txBody>
      </p:sp>
      <p:sp>
        <p:nvSpPr>
          <p:cNvPr id="4" name="Slide Number Placeholder 3">
            <a:extLst>
              <a:ext uri="{FF2B5EF4-FFF2-40B4-BE49-F238E27FC236}">
                <a16:creationId xmlns:a16="http://schemas.microsoft.com/office/drawing/2014/main" id="{CD47E396-803A-C42B-AFC2-6B169C1901B9}"/>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440"/>
            <a:ext cx="8229600" cy="731837"/>
          </a:xfrm>
        </p:spPr>
        <p:txBody>
          <a:bodyPr>
            <a:normAutofit fontScale="90000"/>
          </a:bodyPr>
          <a:lstStyle/>
          <a:p>
            <a:r>
              <a:rPr dirty="0"/>
              <a:t>Sample Prompt #</a:t>
            </a:r>
            <a:r>
              <a:rPr lang="en-US" dirty="0"/>
              <a:t>3</a:t>
            </a:r>
            <a:endParaRPr dirty="0"/>
          </a:p>
        </p:txBody>
      </p:sp>
      <p:sp>
        <p:nvSpPr>
          <p:cNvPr id="3" name="Content Placeholder 2"/>
          <p:cNvSpPr>
            <a:spLocks noGrp="1"/>
          </p:cNvSpPr>
          <p:nvPr>
            <p:ph idx="1"/>
          </p:nvPr>
        </p:nvSpPr>
        <p:spPr>
          <a:xfrm>
            <a:off x="457200" y="972402"/>
            <a:ext cx="8229600" cy="5383947"/>
          </a:xfrm>
        </p:spPr>
        <p:txBody>
          <a:bodyPr>
            <a:normAutofit fontScale="92500"/>
          </a:bodyPr>
          <a:lstStyle/>
          <a:p>
            <a:r>
              <a:rPr sz="1200" dirty="0"/>
              <a:t>Q: What are the effects of geopolitical tensions on gold?</a:t>
            </a:r>
          </a:p>
          <a:p>
            <a:r>
              <a:rPr sz="1200" dirty="0"/>
              <a:t>A: </a:t>
            </a:r>
            <a:r>
              <a:rPr lang="en-US" sz="1200" b="1" dirty="0"/>
              <a:t>Market Trend:</a:t>
            </a:r>
            <a:endParaRPr lang="en-US" sz="1200" dirty="0"/>
          </a:p>
          <a:p>
            <a:r>
              <a:rPr lang="en-US" sz="1200" dirty="0"/>
              <a:t>The gold market is currently experiencing a downward trend, with prices tumbling over 3% in the past week to below $4,000 per ounce, reaching their lowest level since November 2025. The year-to-date performance shows a decline of approximately 5%, and the metal is nearly 20% below its January record high.</a:t>
            </a:r>
          </a:p>
          <a:p>
            <a:r>
              <a:rPr lang="en-US" sz="1200" b="1" dirty="0"/>
              <a:t>Key Drivers:</a:t>
            </a:r>
            <a:endParaRPr lang="en-US" sz="1200" dirty="0"/>
          </a:p>
          <a:p>
            <a:r>
              <a:rPr lang="en-US" sz="1200" b="1" dirty="0"/>
              <a:t>Stronger US Dollar:</a:t>
            </a:r>
            <a:r>
              <a:rPr lang="en-US" sz="1200" dirty="0"/>
              <a:t> A strengthening US dollar is a significant headwind for gold, as it makes the precious metal more expensive for holders of other currencies.</a:t>
            </a:r>
          </a:p>
          <a:p>
            <a:r>
              <a:rPr lang="en-US" sz="1200" b="1" dirty="0"/>
              <a:t>Hawkish Federal Reserve Stance:</a:t>
            </a:r>
            <a:r>
              <a:rPr lang="en-US" sz="1200" dirty="0"/>
              <a:t> Growing expectations that the Federal Reserve will maintain a hawkish stance, with increased probability of an interest rate hike in September, are pressuring gold prices. Higher interest rates generally make non-yielding assets like gold less attractive.</a:t>
            </a:r>
          </a:p>
          <a:p>
            <a:r>
              <a:rPr lang="en-US" sz="1200" b="1" dirty="0"/>
              <a:t>Geopolitical Uncertainty (Limited Impact):</a:t>
            </a:r>
            <a:r>
              <a:rPr lang="en-US" sz="1200" dirty="0"/>
              <a:t> While geopolitical tensions, such as the conflict involving Iran, are present, gold has struggled to retain its traditional safe-haven appeal. This suggests that other factors are currently overriding its safe-haven status.</a:t>
            </a:r>
          </a:p>
          <a:p>
            <a:r>
              <a:rPr lang="en-US" sz="1200" b="1" dirty="0"/>
              <a:t>Inflation Concerns:</a:t>
            </a:r>
            <a:r>
              <a:rPr lang="en-US" sz="1200" dirty="0"/>
              <a:t> A surge in oil prices, potentially linked to geopolitical events, has fueled inflation concerns. Historically, gold can act as an inflation hedge, but this effect appears subdued in the current environment.</a:t>
            </a:r>
          </a:p>
          <a:p>
            <a:r>
              <a:rPr lang="en-US" sz="1200" b="1" dirty="0"/>
              <a:t>Risks:</a:t>
            </a:r>
            <a:endParaRPr lang="en-US" sz="1200" dirty="0"/>
          </a:p>
          <a:p>
            <a:r>
              <a:rPr lang="en-US" sz="1200" b="1" dirty="0"/>
              <a:t>Further Fed Tightening:</a:t>
            </a:r>
            <a:r>
              <a:rPr lang="en-US" sz="1200" dirty="0"/>
              <a:t> Continued hawkish signals from the Federal Reserve could lead to further appreciation of the US dollar and higher interest rates, posing a risk to gold prices.</a:t>
            </a:r>
          </a:p>
          <a:p>
            <a:r>
              <a:rPr lang="en-US" sz="1200" b="1" dirty="0"/>
              <a:t>Escalation of Geopolitical Tensions:</a:t>
            </a:r>
            <a:r>
              <a:rPr lang="en-US" sz="1200" dirty="0"/>
              <a:t> While currently not a strong driver, a significant escalation of geopolitical conflicts could potentially revive gold's safe-haven demand, though this is uncertain given recent price action.</a:t>
            </a:r>
          </a:p>
          <a:p>
            <a:r>
              <a:rPr lang="en-US" sz="1200" b="1" dirty="0"/>
              <a:t>Economic Slowdown:</a:t>
            </a:r>
            <a:r>
              <a:rPr lang="en-US" sz="1200" dirty="0"/>
              <a:t> A broader global economic slowdown could also influence gold's trajectory, but the immediate focus appears to be on monetary policy and currency strength.</a:t>
            </a:r>
          </a:p>
          <a:p>
            <a:r>
              <a:rPr lang="en-US" sz="1200" b="1" dirty="0"/>
              <a:t>Short-Term Outlook:</a:t>
            </a:r>
            <a:endParaRPr lang="en-US" sz="1200" dirty="0"/>
          </a:p>
          <a:p>
            <a:r>
              <a:rPr lang="en-US" sz="1200" dirty="0"/>
              <a:t>The short-term outlook for gold appears cautious. The prevailing headwinds of a strong US dollar and hawkish Fed expectations are likely to continue weighing on prices. The market is currently not fully pricing in the traditional safe-haven demand associated with geopolitical uncertainty. There is a notable divergence between heightened geopolitical tensions and gold's performance, indicating a complex interplay of market forces. The lack of a clear revival in gold's safe-haven appeal amidst current geopolitical events suggests that further price declines are a possibility if these dominant drivers persist.</a:t>
            </a:r>
          </a:p>
        </p:txBody>
      </p:sp>
      <p:sp>
        <p:nvSpPr>
          <p:cNvPr id="4" name="Slide Number Placeholder 3">
            <a:extLst>
              <a:ext uri="{FF2B5EF4-FFF2-40B4-BE49-F238E27FC236}">
                <a16:creationId xmlns:a16="http://schemas.microsoft.com/office/drawing/2014/main" id="{C110A815-0796-94B3-DA99-4E7D0B7182EF}"/>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1778-7E18-BF46-4173-B6AD3CC1E0F0}"/>
              </a:ext>
            </a:extLst>
          </p:cNvPr>
          <p:cNvSpPr>
            <a:spLocks noGrp="1"/>
          </p:cNvSpPr>
          <p:nvPr>
            <p:ph type="title"/>
          </p:nvPr>
        </p:nvSpPr>
        <p:spPr>
          <a:xfrm>
            <a:off x="457200" y="274638"/>
            <a:ext cx="8229600" cy="667058"/>
          </a:xfrm>
        </p:spPr>
        <p:txBody>
          <a:bodyPr>
            <a:normAutofit fontScale="90000"/>
          </a:bodyPr>
          <a:lstStyle/>
          <a:p>
            <a:r>
              <a:rPr lang="en-US" dirty="0"/>
              <a:t>Sample Prompt #4</a:t>
            </a:r>
          </a:p>
        </p:txBody>
      </p:sp>
      <p:sp>
        <p:nvSpPr>
          <p:cNvPr id="3" name="Content Placeholder 2">
            <a:extLst>
              <a:ext uri="{FF2B5EF4-FFF2-40B4-BE49-F238E27FC236}">
                <a16:creationId xmlns:a16="http://schemas.microsoft.com/office/drawing/2014/main" id="{FA13F889-FC60-599B-E70F-05417392B4A4}"/>
              </a:ext>
            </a:extLst>
          </p:cNvPr>
          <p:cNvSpPr>
            <a:spLocks noGrp="1"/>
          </p:cNvSpPr>
          <p:nvPr>
            <p:ph idx="1"/>
          </p:nvPr>
        </p:nvSpPr>
        <p:spPr>
          <a:xfrm>
            <a:off x="457200" y="846162"/>
            <a:ext cx="8229600" cy="5280002"/>
          </a:xfrm>
        </p:spPr>
        <p:txBody>
          <a:bodyPr>
            <a:normAutofit fontScale="92500" lnSpcReduction="20000"/>
          </a:bodyPr>
          <a:lstStyle/>
          <a:p>
            <a:pPr algn="r" rtl="1"/>
            <a:r>
              <a:rPr lang="en-US" sz="1800" dirty="0">
                <a:cs typeface="B Nazanin" panose="00000400000000000000" pitchFamily="2" charset="-78"/>
              </a:rPr>
              <a:t>Q: آیا </a:t>
            </a:r>
            <a:r>
              <a:rPr lang="en-US" sz="1800" dirty="0" err="1">
                <a:cs typeface="B Nazanin" panose="00000400000000000000" pitchFamily="2" charset="-78"/>
              </a:rPr>
              <a:t>الان</a:t>
            </a:r>
            <a:r>
              <a:rPr lang="en-US" sz="1800" dirty="0">
                <a:cs typeface="B Nazanin" panose="00000400000000000000" pitchFamily="2" charset="-78"/>
              </a:rPr>
              <a:t> زمان مناسبی </a:t>
            </a:r>
            <a:r>
              <a:rPr lang="en-US" sz="1800" dirty="0" err="1">
                <a:cs typeface="B Nazanin" panose="00000400000000000000" pitchFamily="2" charset="-78"/>
              </a:rPr>
              <a:t>برای</a:t>
            </a:r>
            <a:r>
              <a:rPr lang="en-US" sz="1800" dirty="0">
                <a:cs typeface="B Nazanin" panose="00000400000000000000" pitchFamily="2" charset="-78"/>
              </a:rPr>
              <a:t> </a:t>
            </a:r>
            <a:r>
              <a:rPr lang="en-US" sz="1800" dirty="0" err="1">
                <a:cs typeface="B Nazanin" panose="00000400000000000000" pitchFamily="2" charset="-78"/>
              </a:rPr>
              <a:t>خرید</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a:t>
            </a:r>
          </a:p>
          <a:p>
            <a:pPr algn="r" rtl="1"/>
            <a:r>
              <a:rPr lang="en-US" sz="1800" dirty="0">
                <a:cs typeface="B Nazanin" panose="00000400000000000000" pitchFamily="2" charset="-78"/>
              </a:rPr>
              <a:t>A: </a:t>
            </a:r>
            <a:r>
              <a:rPr lang="en-US" sz="1800" dirty="0" err="1">
                <a:cs typeface="B Nazanin" panose="00000400000000000000" pitchFamily="2" charset="-78"/>
              </a:rPr>
              <a:t>در</a:t>
            </a:r>
            <a:r>
              <a:rPr lang="en-US" sz="1800" dirty="0">
                <a:cs typeface="B Nazanin" panose="00000400000000000000" pitchFamily="2" charset="-78"/>
              </a:rPr>
              <a:t> </a:t>
            </a:r>
            <a:r>
              <a:rPr lang="en-US" sz="1800" dirty="0" err="1">
                <a:cs typeface="B Nazanin" panose="00000400000000000000" pitchFamily="2" charset="-78"/>
              </a:rPr>
              <a:t>حال</a:t>
            </a:r>
            <a:r>
              <a:rPr lang="en-US" sz="1800" dirty="0">
                <a:cs typeface="B Nazanin" panose="00000400000000000000" pitchFamily="2" charset="-78"/>
              </a:rPr>
              <a:t> </a:t>
            </a:r>
            <a:r>
              <a:rPr lang="en-US" sz="1800" dirty="0" err="1">
                <a:cs typeface="B Nazanin" panose="00000400000000000000" pitchFamily="2" charset="-78"/>
              </a:rPr>
              <a:t>حاضر</a:t>
            </a:r>
            <a:r>
              <a:rPr lang="en-US" sz="1800" dirty="0">
                <a:cs typeface="B Nazanin" panose="00000400000000000000" pitchFamily="2" charset="-78"/>
              </a:rPr>
              <a:t>، </a:t>
            </a:r>
            <a:r>
              <a:rPr lang="en-US" sz="1800" dirty="0" err="1">
                <a:cs typeface="B Nazanin" panose="00000400000000000000" pitchFamily="2" charset="-78"/>
              </a:rPr>
              <a:t>بازار</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با</a:t>
            </a:r>
            <a:r>
              <a:rPr lang="en-US" sz="1800" dirty="0">
                <a:cs typeface="B Nazanin" panose="00000400000000000000" pitchFamily="2" charset="-78"/>
              </a:rPr>
              <a:t> </a:t>
            </a:r>
            <a:r>
              <a:rPr lang="en-US" sz="1800" dirty="0" err="1">
                <a:cs typeface="B Nazanin" panose="00000400000000000000" pitchFamily="2" charset="-78"/>
              </a:rPr>
              <a:t>چالش‌هایی</a:t>
            </a:r>
            <a:r>
              <a:rPr lang="en-US" sz="1800" dirty="0">
                <a:cs typeface="B Nazanin" panose="00000400000000000000" pitchFamily="2" charset="-78"/>
              </a:rPr>
              <a:t> </a:t>
            </a:r>
            <a:r>
              <a:rPr lang="en-US" sz="1800" dirty="0" err="1">
                <a:cs typeface="B Nazanin" panose="00000400000000000000" pitchFamily="2" charset="-78"/>
              </a:rPr>
              <a:t>روبرو</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 </a:t>
            </a:r>
            <a:r>
              <a:rPr lang="en-US" sz="1800" dirty="0" err="1">
                <a:cs typeface="B Nazanin" panose="00000400000000000000" pitchFamily="2" charset="-78"/>
              </a:rPr>
              <a:t>که</a:t>
            </a:r>
            <a:r>
              <a:rPr lang="en-US" sz="1800" dirty="0">
                <a:cs typeface="B Nazanin" panose="00000400000000000000" pitchFamily="2" charset="-78"/>
              </a:rPr>
              <a:t> </a:t>
            </a:r>
            <a:r>
              <a:rPr lang="en-US" sz="1800" dirty="0" err="1">
                <a:cs typeface="B Nazanin" panose="00000400000000000000" pitchFamily="2" charset="-78"/>
              </a:rPr>
              <a:t>بر</a:t>
            </a:r>
            <a:r>
              <a:rPr lang="en-US" sz="1800" dirty="0">
                <a:cs typeface="B Nazanin" panose="00000400000000000000" pitchFamily="2" charset="-78"/>
              </a:rPr>
              <a:t> </a:t>
            </a:r>
            <a:r>
              <a:rPr lang="en-US" sz="1800" dirty="0" err="1">
                <a:cs typeface="B Nazanin" panose="00000400000000000000" pitchFamily="2" charset="-78"/>
              </a:rPr>
              <a:t>قیمت</a:t>
            </a:r>
            <a:r>
              <a:rPr lang="en-US" sz="1800" dirty="0">
                <a:cs typeface="B Nazanin" panose="00000400000000000000" pitchFamily="2" charset="-78"/>
              </a:rPr>
              <a:t> </a:t>
            </a:r>
            <a:r>
              <a:rPr lang="en-US" sz="1800" dirty="0" err="1">
                <a:cs typeface="B Nazanin" panose="00000400000000000000" pitchFamily="2" charset="-78"/>
              </a:rPr>
              <a:t>آن</a:t>
            </a:r>
            <a:r>
              <a:rPr lang="en-US" sz="1800" dirty="0">
                <a:cs typeface="B Nazanin" panose="00000400000000000000" pitchFamily="2" charset="-78"/>
              </a:rPr>
              <a:t> </a:t>
            </a:r>
            <a:r>
              <a:rPr lang="en-US" sz="1800" dirty="0" err="1">
                <a:cs typeface="B Nazanin" panose="00000400000000000000" pitchFamily="2" charset="-78"/>
              </a:rPr>
              <a:t>تأثیر</a:t>
            </a:r>
            <a:r>
              <a:rPr lang="en-US" sz="1800" dirty="0">
                <a:cs typeface="B Nazanin" panose="00000400000000000000" pitchFamily="2" charset="-78"/>
              </a:rPr>
              <a:t> </a:t>
            </a:r>
            <a:r>
              <a:rPr lang="en-US" sz="1800" dirty="0" err="1">
                <a:cs typeface="B Nazanin" panose="00000400000000000000" pitchFamily="2" charset="-78"/>
              </a:rPr>
              <a:t>گذاشته</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a:t>
            </a:r>
          </a:p>
          <a:p>
            <a:pPr algn="r" rtl="1"/>
            <a:r>
              <a:rPr lang="en-US" sz="1800" b="1" dirty="0" err="1">
                <a:cs typeface="B Nazanin" panose="00000400000000000000" pitchFamily="2" charset="-78"/>
              </a:rPr>
              <a:t>روند</a:t>
            </a:r>
            <a:r>
              <a:rPr lang="en-US" sz="1800" b="1" dirty="0">
                <a:cs typeface="B Nazanin" panose="00000400000000000000" pitchFamily="2" charset="-78"/>
              </a:rPr>
              <a:t> </a:t>
            </a:r>
            <a:r>
              <a:rPr lang="en-US" sz="1800" b="1" dirty="0" err="1">
                <a:cs typeface="B Nazanin" panose="00000400000000000000" pitchFamily="2" charset="-78"/>
              </a:rPr>
              <a:t>بازار</a:t>
            </a:r>
            <a:r>
              <a:rPr lang="en-US" sz="1800" b="1" dirty="0">
                <a:cs typeface="B Nazanin" panose="00000400000000000000" pitchFamily="2" charset="-78"/>
              </a:rPr>
              <a:t>:</a:t>
            </a:r>
            <a:endParaRPr lang="en-US" sz="1800" dirty="0">
              <a:cs typeface="B Nazanin" panose="00000400000000000000" pitchFamily="2" charset="-78"/>
            </a:endParaRPr>
          </a:p>
          <a:p>
            <a:pPr algn="r" rtl="1"/>
            <a:r>
              <a:rPr lang="en-US" sz="1800" dirty="0" err="1">
                <a:cs typeface="B Nazanin" panose="00000400000000000000" pitchFamily="2" charset="-78"/>
              </a:rPr>
              <a:t>قیمت</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در</a:t>
            </a:r>
            <a:r>
              <a:rPr lang="en-US" sz="1800" dirty="0">
                <a:cs typeface="B Nazanin" panose="00000400000000000000" pitchFamily="2" charset="-78"/>
              </a:rPr>
              <a:t> </a:t>
            </a:r>
            <a:r>
              <a:rPr lang="en-US" sz="1800" dirty="0" err="1">
                <a:cs typeface="B Nazanin" panose="00000400000000000000" pitchFamily="2" charset="-78"/>
              </a:rPr>
              <a:t>هفته</a:t>
            </a:r>
            <a:r>
              <a:rPr lang="en-US" sz="1800" dirty="0">
                <a:cs typeface="B Nazanin" panose="00000400000000000000" pitchFamily="2" charset="-78"/>
              </a:rPr>
              <a:t> </a:t>
            </a:r>
            <a:r>
              <a:rPr lang="en-US" sz="1800" dirty="0" err="1">
                <a:cs typeface="B Nazanin" panose="00000400000000000000" pitchFamily="2" charset="-78"/>
              </a:rPr>
              <a:t>گذشته</a:t>
            </a:r>
            <a:r>
              <a:rPr lang="en-US" sz="1800" dirty="0">
                <a:cs typeface="B Nazanin" panose="00000400000000000000" pitchFamily="2" charset="-78"/>
              </a:rPr>
              <a:t> </a:t>
            </a:r>
            <a:r>
              <a:rPr lang="en-US" sz="1800" dirty="0" err="1">
                <a:cs typeface="B Nazanin" panose="00000400000000000000" pitchFamily="2" charset="-78"/>
              </a:rPr>
              <a:t>حدود</a:t>
            </a:r>
            <a:r>
              <a:rPr lang="en-US" sz="1800" dirty="0">
                <a:cs typeface="B Nazanin" panose="00000400000000000000" pitchFamily="2" charset="-78"/>
              </a:rPr>
              <a:t> ۳.۰۶ </a:t>
            </a:r>
            <a:r>
              <a:rPr lang="en-US" sz="1800" dirty="0" err="1">
                <a:cs typeface="B Nazanin" panose="00000400000000000000" pitchFamily="2" charset="-78"/>
              </a:rPr>
              <a:t>درصد</a:t>
            </a:r>
            <a:r>
              <a:rPr lang="en-US" sz="1800" dirty="0">
                <a:cs typeface="B Nazanin" panose="00000400000000000000" pitchFamily="2" charset="-78"/>
              </a:rPr>
              <a:t> </a:t>
            </a:r>
            <a:r>
              <a:rPr lang="en-US" sz="1800" dirty="0" err="1">
                <a:cs typeface="B Nazanin" panose="00000400000000000000" pitchFamily="2" charset="-78"/>
              </a:rPr>
              <a:t>کاهش</a:t>
            </a:r>
            <a:r>
              <a:rPr lang="en-US" sz="1800" dirty="0">
                <a:cs typeface="B Nazanin" panose="00000400000000000000" pitchFamily="2" charset="-78"/>
              </a:rPr>
              <a:t> </a:t>
            </a:r>
            <a:r>
              <a:rPr lang="en-US" sz="1800" dirty="0" err="1">
                <a:cs typeface="B Nazanin" panose="00000400000000000000" pitchFamily="2" charset="-78"/>
              </a:rPr>
              <a:t>یافته</a:t>
            </a:r>
            <a:r>
              <a:rPr lang="en-US" sz="1800" dirty="0">
                <a:cs typeface="B Nazanin" panose="00000400000000000000" pitchFamily="2" charset="-78"/>
              </a:rPr>
              <a:t> و </a:t>
            </a:r>
            <a:r>
              <a:rPr lang="en-US" sz="1800" dirty="0" err="1">
                <a:cs typeface="B Nazanin" panose="00000400000000000000" pitchFamily="2" charset="-78"/>
              </a:rPr>
              <a:t>به</a:t>
            </a:r>
            <a:r>
              <a:rPr lang="en-US" sz="1800" dirty="0">
                <a:cs typeface="B Nazanin" panose="00000400000000000000" pitchFamily="2" charset="-78"/>
              </a:rPr>
              <a:t> ۴۰۶۰.۰۷ </a:t>
            </a:r>
            <a:r>
              <a:rPr lang="en-US" sz="1800" dirty="0" err="1">
                <a:cs typeface="B Nazanin" panose="00000400000000000000" pitchFamily="2" charset="-78"/>
              </a:rPr>
              <a:t>واحد</a:t>
            </a:r>
            <a:r>
              <a:rPr lang="en-US" sz="1800" dirty="0">
                <a:cs typeface="B Nazanin" panose="00000400000000000000" pitchFamily="2" charset="-78"/>
              </a:rPr>
              <a:t> </a:t>
            </a:r>
            <a:r>
              <a:rPr lang="en-US" sz="1800" dirty="0" err="1">
                <a:cs typeface="B Nazanin" panose="00000400000000000000" pitchFamily="2" charset="-78"/>
              </a:rPr>
              <a:t>رسیده</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a:t>
            </a:r>
          </a:p>
          <a:p>
            <a:pPr algn="r" rtl="1"/>
            <a:r>
              <a:rPr lang="en-US" sz="1800" dirty="0" err="1">
                <a:cs typeface="B Nazanin" panose="00000400000000000000" pitchFamily="2" charset="-78"/>
              </a:rPr>
              <a:t>این</a:t>
            </a:r>
            <a:r>
              <a:rPr lang="en-US" sz="1800" dirty="0">
                <a:cs typeface="B Nazanin" panose="00000400000000000000" pitchFamily="2" charset="-78"/>
              </a:rPr>
              <a:t> </a:t>
            </a:r>
            <a:r>
              <a:rPr lang="en-US" sz="1800" dirty="0" err="1">
                <a:cs typeface="B Nazanin" panose="00000400000000000000" pitchFamily="2" charset="-78"/>
              </a:rPr>
              <a:t>کاهش</a:t>
            </a:r>
            <a:r>
              <a:rPr lang="en-US" sz="1800" dirty="0">
                <a:cs typeface="B Nazanin" panose="00000400000000000000" pitchFamily="2" charset="-78"/>
              </a:rPr>
              <a:t>، </a:t>
            </a:r>
            <a:r>
              <a:rPr lang="en-US" sz="1800" dirty="0" err="1">
                <a:cs typeface="B Nazanin" panose="00000400000000000000" pitchFamily="2" charset="-78"/>
              </a:rPr>
              <a:t>قیمت</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را</a:t>
            </a:r>
            <a:r>
              <a:rPr lang="en-US" sz="1800" dirty="0">
                <a:cs typeface="B Nazanin" panose="00000400000000000000" pitchFamily="2" charset="-78"/>
              </a:rPr>
              <a:t> </a:t>
            </a:r>
            <a:r>
              <a:rPr lang="en-US" sz="1800" dirty="0" err="1">
                <a:cs typeface="B Nazanin" panose="00000400000000000000" pitchFamily="2" charset="-78"/>
              </a:rPr>
              <a:t>به</a:t>
            </a:r>
            <a:r>
              <a:rPr lang="en-US" sz="1800" dirty="0">
                <a:cs typeface="B Nazanin" panose="00000400000000000000" pitchFamily="2" charset="-78"/>
              </a:rPr>
              <a:t> </a:t>
            </a:r>
            <a:r>
              <a:rPr lang="en-US" sz="1800" dirty="0" err="1">
                <a:cs typeface="B Nazanin" panose="00000400000000000000" pitchFamily="2" charset="-78"/>
              </a:rPr>
              <a:t>پایین‌ترین</a:t>
            </a:r>
            <a:r>
              <a:rPr lang="en-US" sz="1800" dirty="0">
                <a:cs typeface="B Nazanin" panose="00000400000000000000" pitchFamily="2" charset="-78"/>
              </a:rPr>
              <a:t> </a:t>
            </a:r>
            <a:r>
              <a:rPr lang="en-US" sz="1800" dirty="0" err="1">
                <a:cs typeface="B Nazanin" panose="00000400000000000000" pitchFamily="2" charset="-78"/>
              </a:rPr>
              <a:t>سطح</a:t>
            </a:r>
            <a:r>
              <a:rPr lang="en-US" sz="1800" dirty="0">
                <a:cs typeface="B Nazanin" panose="00000400000000000000" pitchFamily="2" charset="-78"/>
              </a:rPr>
              <a:t> </a:t>
            </a:r>
            <a:r>
              <a:rPr lang="en-US" sz="1800" dirty="0" err="1">
                <a:cs typeface="B Nazanin" panose="00000400000000000000" pitchFamily="2" charset="-78"/>
              </a:rPr>
              <a:t>از</a:t>
            </a:r>
            <a:r>
              <a:rPr lang="en-US" sz="1800" dirty="0">
                <a:cs typeface="B Nazanin" panose="00000400000000000000" pitchFamily="2" charset="-78"/>
              </a:rPr>
              <a:t> </a:t>
            </a:r>
            <a:r>
              <a:rPr lang="en-US" sz="1800" dirty="0" err="1">
                <a:cs typeface="B Nazanin" panose="00000400000000000000" pitchFamily="2" charset="-78"/>
              </a:rPr>
              <a:t>نوامبر</a:t>
            </a:r>
            <a:r>
              <a:rPr lang="en-US" sz="1800" dirty="0">
                <a:cs typeface="B Nazanin" panose="00000400000000000000" pitchFamily="2" charset="-78"/>
              </a:rPr>
              <a:t> ۲۰۲۵ </a:t>
            </a:r>
            <a:r>
              <a:rPr lang="en-US" sz="1800" dirty="0" err="1">
                <a:cs typeface="B Nazanin" panose="00000400000000000000" pitchFamily="2" charset="-78"/>
              </a:rPr>
              <a:t>رسانده</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a:t>
            </a:r>
          </a:p>
          <a:p>
            <a:pPr algn="r" rtl="1"/>
            <a:r>
              <a:rPr lang="en-US" sz="1800" b="1" dirty="0" err="1">
                <a:cs typeface="B Nazanin" panose="00000400000000000000" pitchFamily="2" charset="-78"/>
              </a:rPr>
              <a:t>عوامل</a:t>
            </a:r>
            <a:r>
              <a:rPr lang="en-US" sz="1800" b="1" dirty="0">
                <a:cs typeface="B Nazanin" panose="00000400000000000000" pitchFamily="2" charset="-78"/>
              </a:rPr>
              <a:t> </a:t>
            </a:r>
            <a:r>
              <a:rPr lang="en-US" sz="1800" b="1" dirty="0" err="1">
                <a:cs typeface="B Nazanin" panose="00000400000000000000" pitchFamily="2" charset="-78"/>
              </a:rPr>
              <a:t>کلیدی</a:t>
            </a:r>
            <a:r>
              <a:rPr lang="en-US" sz="1800" b="1" dirty="0">
                <a:cs typeface="B Nazanin" panose="00000400000000000000" pitchFamily="2" charset="-78"/>
              </a:rPr>
              <a:t>:</a:t>
            </a:r>
            <a:endParaRPr lang="en-US" sz="1800" dirty="0">
              <a:cs typeface="B Nazanin" panose="00000400000000000000" pitchFamily="2" charset="-78"/>
            </a:endParaRPr>
          </a:p>
          <a:p>
            <a:pPr algn="r" rtl="1"/>
            <a:r>
              <a:rPr lang="en-US" sz="1800" b="1" dirty="0" err="1">
                <a:cs typeface="B Nazanin" panose="00000400000000000000" pitchFamily="2" charset="-78"/>
              </a:rPr>
              <a:t>تقویت</a:t>
            </a:r>
            <a:r>
              <a:rPr lang="en-US" sz="1800" b="1" dirty="0">
                <a:cs typeface="B Nazanin" panose="00000400000000000000" pitchFamily="2" charset="-78"/>
              </a:rPr>
              <a:t> </a:t>
            </a:r>
            <a:r>
              <a:rPr lang="en-US" sz="1800" b="1" dirty="0" err="1">
                <a:cs typeface="B Nazanin" panose="00000400000000000000" pitchFamily="2" charset="-78"/>
              </a:rPr>
              <a:t>دلار</a:t>
            </a:r>
            <a:r>
              <a:rPr lang="en-US" sz="1800" b="1" dirty="0">
                <a:cs typeface="B Nazanin" panose="00000400000000000000" pitchFamily="2" charset="-78"/>
              </a:rPr>
              <a:t> </a:t>
            </a:r>
            <a:r>
              <a:rPr lang="en-US" sz="1800" b="1" dirty="0" err="1">
                <a:cs typeface="B Nazanin" panose="00000400000000000000" pitchFamily="2" charset="-78"/>
              </a:rPr>
              <a:t>آمریکا</a:t>
            </a:r>
            <a:r>
              <a:rPr lang="en-US" sz="1800" b="1" dirty="0">
                <a:cs typeface="B Nazanin" panose="00000400000000000000" pitchFamily="2" charset="-78"/>
              </a:rPr>
              <a:t>:</a:t>
            </a:r>
            <a:r>
              <a:rPr lang="en-US" sz="1800" dirty="0">
                <a:cs typeface="B Nazanin" panose="00000400000000000000" pitchFamily="2" charset="-78"/>
              </a:rPr>
              <a:t> </a:t>
            </a:r>
            <a:r>
              <a:rPr lang="en-US" sz="1800" dirty="0" err="1">
                <a:cs typeface="B Nazanin" panose="00000400000000000000" pitchFamily="2" charset="-78"/>
              </a:rPr>
              <a:t>افزایش</a:t>
            </a:r>
            <a:r>
              <a:rPr lang="en-US" sz="1800" dirty="0">
                <a:cs typeface="B Nazanin" panose="00000400000000000000" pitchFamily="2" charset="-78"/>
              </a:rPr>
              <a:t> </a:t>
            </a:r>
            <a:r>
              <a:rPr lang="en-US" sz="1800" dirty="0" err="1">
                <a:cs typeface="B Nazanin" panose="00000400000000000000" pitchFamily="2" charset="-78"/>
              </a:rPr>
              <a:t>ارزش</a:t>
            </a:r>
            <a:r>
              <a:rPr lang="en-US" sz="1800" dirty="0">
                <a:cs typeface="B Nazanin" panose="00000400000000000000" pitchFamily="2" charset="-78"/>
              </a:rPr>
              <a:t> </a:t>
            </a:r>
            <a:r>
              <a:rPr lang="en-US" sz="1800" dirty="0" err="1">
                <a:cs typeface="B Nazanin" panose="00000400000000000000" pitchFamily="2" charset="-78"/>
              </a:rPr>
              <a:t>دلار</a:t>
            </a:r>
            <a:r>
              <a:rPr lang="en-US" sz="1800" dirty="0">
                <a:cs typeface="B Nazanin" panose="00000400000000000000" pitchFamily="2" charset="-78"/>
              </a:rPr>
              <a:t> </a:t>
            </a:r>
            <a:r>
              <a:rPr lang="en-US" sz="1800" dirty="0" err="1">
                <a:cs typeface="B Nazanin" panose="00000400000000000000" pitchFamily="2" charset="-78"/>
              </a:rPr>
              <a:t>آمریکا</a:t>
            </a:r>
            <a:r>
              <a:rPr lang="en-US" sz="1800" dirty="0">
                <a:cs typeface="B Nazanin" panose="00000400000000000000" pitchFamily="2" charset="-78"/>
              </a:rPr>
              <a:t> </a:t>
            </a:r>
            <a:r>
              <a:rPr lang="en-US" sz="1800" dirty="0" err="1">
                <a:cs typeface="B Nazanin" panose="00000400000000000000" pitchFamily="2" charset="-78"/>
              </a:rPr>
              <a:t>فشار</a:t>
            </a:r>
            <a:r>
              <a:rPr lang="en-US" sz="1800" dirty="0">
                <a:cs typeface="B Nazanin" panose="00000400000000000000" pitchFamily="2" charset="-78"/>
              </a:rPr>
              <a:t> </a:t>
            </a:r>
            <a:r>
              <a:rPr lang="en-US" sz="1800" dirty="0" err="1">
                <a:cs typeface="B Nazanin" panose="00000400000000000000" pitchFamily="2" charset="-78"/>
              </a:rPr>
              <a:t>نزولی</a:t>
            </a:r>
            <a:r>
              <a:rPr lang="en-US" sz="1800" dirty="0">
                <a:cs typeface="B Nazanin" panose="00000400000000000000" pitchFamily="2" charset="-78"/>
              </a:rPr>
              <a:t> </a:t>
            </a:r>
            <a:r>
              <a:rPr lang="en-US" sz="1800" dirty="0" err="1">
                <a:cs typeface="B Nazanin" panose="00000400000000000000" pitchFamily="2" charset="-78"/>
              </a:rPr>
              <a:t>بر</a:t>
            </a:r>
            <a:r>
              <a:rPr lang="en-US" sz="1800" dirty="0">
                <a:cs typeface="B Nazanin" panose="00000400000000000000" pitchFamily="2" charset="-78"/>
              </a:rPr>
              <a:t> </a:t>
            </a:r>
            <a:r>
              <a:rPr lang="en-US" sz="1800" dirty="0" err="1">
                <a:cs typeface="B Nazanin" panose="00000400000000000000" pitchFamily="2" charset="-78"/>
              </a:rPr>
              <a:t>قیمت</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وارد</a:t>
            </a:r>
            <a:r>
              <a:rPr lang="en-US" sz="1800" dirty="0">
                <a:cs typeface="B Nazanin" panose="00000400000000000000" pitchFamily="2" charset="-78"/>
              </a:rPr>
              <a:t> </a:t>
            </a:r>
            <a:r>
              <a:rPr lang="en-US" sz="1800" dirty="0" err="1">
                <a:cs typeface="B Nazanin" panose="00000400000000000000" pitchFamily="2" charset="-78"/>
              </a:rPr>
              <a:t>می‌کند</a:t>
            </a:r>
            <a:r>
              <a:rPr lang="en-US" sz="1800" dirty="0">
                <a:cs typeface="B Nazanin" panose="00000400000000000000" pitchFamily="2" charset="-78"/>
              </a:rPr>
              <a:t>.</a:t>
            </a:r>
          </a:p>
          <a:p>
            <a:pPr algn="r" rtl="1"/>
            <a:r>
              <a:rPr lang="en-US" sz="1800" b="1" dirty="0" err="1">
                <a:cs typeface="B Nazanin" panose="00000400000000000000" pitchFamily="2" charset="-78"/>
              </a:rPr>
              <a:t>انتظارات</a:t>
            </a:r>
            <a:r>
              <a:rPr lang="en-US" sz="1800" b="1" dirty="0">
                <a:cs typeface="B Nazanin" panose="00000400000000000000" pitchFamily="2" charset="-78"/>
              </a:rPr>
              <a:t> </a:t>
            </a:r>
            <a:r>
              <a:rPr lang="en-US" sz="1800" b="1" dirty="0" err="1">
                <a:cs typeface="B Nazanin" panose="00000400000000000000" pitchFamily="2" charset="-78"/>
              </a:rPr>
              <a:t>نرخ</a:t>
            </a:r>
            <a:r>
              <a:rPr lang="en-US" sz="1800" b="1" dirty="0">
                <a:cs typeface="B Nazanin" panose="00000400000000000000" pitchFamily="2" charset="-78"/>
              </a:rPr>
              <a:t> </a:t>
            </a:r>
            <a:r>
              <a:rPr lang="en-US" sz="1800" b="1" dirty="0" err="1">
                <a:cs typeface="B Nazanin" panose="00000400000000000000" pitchFamily="2" charset="-78"/>
              </a:rPr>
              <a:t>بهره</a:t>
            </a:r>
            <a:r>
              <a:rPr lang="en-US" sz="1800" b="1" dirty="0">
                <a:cs typeface="B Nazanin" panose="00000400000000000000" pitchFamily="2" charset="-78"/>
              </a:rPr>
              <a:t> فدرال </a:t>
            </a:r>
            <a:r>
              <a:rPr lang="en-US" sz="1800" b="1" dirty="0" err="1">
                <a:cs typeface="B Nazanin" panose="00000400000000000000" pitchFamily="2" charset="-78"/>
              </a:rPr>
              <a:t>رزرو</a:t>
            </a:r>
            <a:r>
              <a:rPr lang="en-US" sz="1800" b="1" dirty="0">
                <a:cs typeface="B Nazanin" panose="00000400000000000000" pitchFamily="2" charset="-78"/>
              </a:rPr>
              <a:t>:</a:t>
            </a:r>
            <a:r>
              <a:rPr lang="en-US" sz="1800" dirty="0">
                <a:cs typeface="B Nazanin" panose="00000400000000000000" pitchFamily="2" charset="-78"/>
              </a:rPr>
              <a:t> </a:t>
            </a:r>
            <a:r>
              <a:rPr lang="en-US" sz="1800" dirty="0" err="1">
                <a:cs typeface="B Nazanin" panose="00000400000000000000" pitchFamily="2" charset="-78"/>
              </a:rPr>
              <a:t>افزایش</a:t>
            </a:r>
            <a:r>
              <a:rPr lang="en-US" sz="1800" dirty="0">
                <a:cs typeface="B Nazanin" panose="00000400000000000000" pitchFamily="2" charset="-78"/>
              </a:rPr>
              <a:t> </a:t>
            </a:r>
            <a:r>
              <a:rPr lang="en-US" sz="1800" dirty="0" err="1">
                <a:cs typeface="B Nazanin" panose="00000400000000000000" pitchFamily="2" charset="-78"/>
              </a:rPr>
              <a:t>احتمالات</a:t>
            </a:r>
            <a:r>
              <a:rPr lang="en-US" sz="1800" dirty="0">
                <a:cs typeface="B Nazanin" panose="00000400000000000000" pitchFamily="2" charset="-78"/>
              </a:rPr>
              <a:t> </a:t>
            </a:r>
            <a:r>
              <a:rPr lang="en-US" sz="1800" dirty="0" err="1">
                <a:cs typeface="B Nazanin" panose="00000400000000000000" pitchFamily="2" charset="-78"/>
              </a:rPr>
              <a:t>مبنی</a:t>
            </a:r>
            <a:r>
              <a:rPr lang="en-US" sz="1800" dirty="0">
                <a:cs typeface="B Nazanin" panose="00000400000000000000" pitchFamily="2" charset="-78"/>
              </a:rPr>
              <a:t> </a:t>
            </a:r>
            <a:r>
              <a:rPr lang="en-US" sz="1800" dirty="0" err="1">
                <a:cs typeface="B Nazanin" panose="00000400000000000000" pitchFamily="2" charset="-78"/>
              </a:rPr>
              <a:t>بر</a:t>
            </a:r>
            <a:r>
              <a:rPr lang="en-US" sz="1800" dirty="0">
                <a:cs typeface="B Nazanin" panose="00000400000000000000" pitchFamily="2" charset="-78"/>
              </a:rPr>
              <a:t> </a:t>
            </a:r>
            <a:r>
              <a:rPr lang="en-US" sz="1800" dirty="0" err="1">
                <a:cs typeface="B Nazanin" panose="00000400000000000000" pitchFamily="2" charset="-78"/>
              </a:rPr>
              <a:t>افزایش</a:t>
            </a:r>
            <a:r>
              <a:rPr lang="en-US" sz="1800" dirty="0">
                <a:cs typeface="B Nazanin" panose="00000400000000000000" pitchFamily="2" charset="-78"/>
              </a:rPr>
              <a:t> </a:t>
            </a:r>
            <a:r>
              <a:rPr lang="en-US" sz="1800" dirty="0" err="1">
                <a:cs typeface="B Nazanin" panose="00000400000000000000" pitchFamily="2" charset="-78"/>
              </a:rPr>
              <a:t>نرخ</a:t>
            </a:r>
            <a:r>
              <a:rPr lang="en-US" sz="1800" dirty="0">
                <a:cs typeface="B Nazanin" panose="00000400000000000000" pitchFamily="2" charset="-78"/>
              </a:rPr>
              <a:t> </a:t>
            </a:r>
            <a:r>
              <a:rPr lang="en-US" sz="1800" dirty="0" err="1">
                <a:cs typeface="B Nazanin" panose="00000400000000000000" pitchFamily="2" charset="-78"/>
              </a:rPr>
              <a:t>بهره</a:t>
            </a:r>
            <a:r>
              <a:rPr lang="en-US" sz="1800" dirty="0">
                <a:cs typeface="B Nazanin" panose="00000400000000000000" pitchFamily="2" charset="-78"/>
              </a:rPr>
              <a:t> </a:t>
            </a:r>
            <a:r>
              <a:rPr lang="en-US" sz="1800" dirty="0" err="1">
                <a:cs typeface="B Nazanin" panose="00000400000000000000" pitchFamily="2" charset="-78"/>
              </a:rPr>
              <a:t>توسط</a:t>
            </a:r>
            <a:r>
              <a:rPr lang="en-US" sz="1800" dirty="0">
                <a:cs typeface="B Nazanin" panose="00000400000000000000" pitchFamily="2" charset="-78"/>
              </a:rPr>
              <a:t> فدرال </a:t>
            </a:r>
            <a:r>
              <a:rPr lang="en-US" sz="1800" dirty="0" err="1">
                <a:cs typeface="B Nazanin" panose="00000400000000000000" pitchFamily="2" charset="-78"/>
              </a:rPr>
              <a:t>رزرو</a:t>
            </a:r>
            <a:r>
              <a:rPr lang="en-US" sz="1800" dirty="0">
                <a:cs typeface="B Nazanin" panose="00000400000000000000" pitchFamily="2" charset="-78"/>
              </a:rPr>
              <a:t> </a:t>
            </a:r>
            <a:r>
              <a:rPr lang="en-US" sz="1800" dirty="0" err="1">
                <a:cs typeface="B Nazanin" panose="00000400000000000000" pitchFamily="2" charset="-78"/>
              </a:rPr>
              <a:t>در</a:t>
            </a:r>
            <a:r>
              <a:rPr lang="en-US" sz="1800" dirty="0">
                <a:cs typeface="B Nazanin" panose="00000400000000000000" pitchFamily="2" charset="-78"/>
              </a:rPr>
              <a:t> </a:t>
            </a:r>
            <a:r>
              <a:rPr lang="en-US" sz="1800" dirty="0" err="1">
                <a:cs typeface="B Nazanin" panose="00000400000000000000" pitchFamily="2" charset="-78"/>
              </a:rPr>
              <a:t>آینده</a:t>
            </a:r>
            <a:r>
              <a:rPr lang="en-US" sz="1800" dirty="0">
                <a:cs typeface="B Nazanin" panose="00000400000000000000" pitchFamily="2" charset="-78"/>
              </a:rPr>
              <a:t> </a:t>
            </a:r>
            <a:r>
              <a:rPr lang="en-US" sz="1800" dirty="0" err="1">
                <a:cs typeface="B Nazanin" panose="00000400000000000000" pitchFamily="2" charset="-78"/>
              </a:rPr>
              <a:t>نزدیک</a:t>
            </a:r>
            <a:r>
              <a:rPr lang="en-US" sz="1800" dirty="0">
                <a:cs typeface="B Nazanin" panose="00000400000000000000" pitchFamily="2" charset="-78"/>
              </a:rPr>
              <a:t>، </a:t>
            </a:r>
            <a:r>
              <a:rPr lang="en-US" sz="1800" dirty="0" err="1">
                <a:cs typeface="B Nazanin" panose="00000400000000000000" pitchFamily="2" charset="-78"/>
              </a:rPr>
              <a:t>جذابیت</a:t>
            </a:r>
            <a:r>
              <a:rPr lang="en-US" sz="1800" dirty="0">
                <a:cs typeface="B Nazanin" panose="00000400000000000000" pitchFamily="2" charset="-78"/>
              </a:rPr>
              <a:t> </a:t>
            </a:r>
            <a:r>
              <a:rPr lang="en-US" sz="1800" dirty="0" err="1">
                <a:cs typeface="B Nazanin" panose="00000400000000000000" pitchFamily="2" charset="-78"/>
              </a:rPr>
              <a:t>دارایی‌های</a:t>
            </a:r>
            <a:r>
              <a:rPr lang="en-US" sz="1800" dirty="0">
                <a:cs typeface="B Nazanin" panose="00000400000000000000" pitchFamily="2" charset="-78"/>
              </a:rPr>
              <a:t> </a:t>
            </a:r>
            <a:r>
              <a:rPr lang="en-US" sz="1800" dirty="0" err="1">
                <a:cs typeface="B Nazanin" panose="00000400000000000000" pitchFamily="2" charset="-78"/>
              </a:rPr>
              <a:t>با</a:t>
            </a:r>
            <a:r>
              <a:rPr lang="en-US" sz="1800" dirty="0">
                <a:cs typeface="B Nazanin" panose="00000400000000000000" pitchFamily="2" charset="-78"/>
              </a:rPr>
              <a:t> </a:t>
            </a:r>
            <a:r>
              <a:rPr lang="en-US" sz="1800" dirty="0" err="1">
                <a:cs typeface="B Nazanin" panose="00000400000000000000" pitchFamily="2" charset="-78"/>
              </a:rPr>
              <a:t>بازدهی</a:t>
            </a:r>
            <a:r>
              <a:rPr lang="en-US" sz="1800" dirty="0">
                <a:cs typeface="B Nazanin" panose="00000400000000000000" pitchFamily="2" charset="-78"/>
              </a:rPr>
              <a:t> </a:t>
            </a:r>
            <a:r>
              <a:rPr lang="en-US" sz="1800" dirty="0" err="1">
                <a:cs typeface="B Nazanin" panose="00000400000000000000" pitchFamily="2" charset="-78"/>
              </a:rPr>
              <a:t>ثابت</a:t>
            </a:r>
            <a:r>
              <a:rPr lang="en-US" sz="1800" dirty="0">
                <a:cs typeface="B Nazanin" panose="00000400000000000000" pitchFamily="2" charset="-78"/>
              </a:rPr>
              <a:t> </a:t>
            </a:r>
            <a:r>
              <a:rPr lang="en-US" sz="1800" dirty="0" err="1">
                <a:cs typeface="B Nazanin" panose="00000400000000000000" pitchFamily="2" charset="-78"/>
              </a:rPr>
              <a:t>مانند</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را</a:t>
            </a:r>
            <a:r>
              <a:rPr lang="en-US" sz="1800" dirty="0">
                <a:cs typeface="B Nazanin" panose="00000400000000000000" pitchFamily="2" charset="-78"/>
              </a:rPr>
              <a:t> </a:t>
            </a:r>
            <a:r>
              <a:rPr lang="en-US" sz="1800" dirty="0" err="1">
                <a:cs typeface="B Nazanin" panose="00000400000000000000" pitchFamily="2" charset="-78"/>
              </a:rPr>
              <a:t>کاهش</a:t>
            </a:r>
            <a:r>
              <a:rPr lang="en-US" sz="1800" dirty="0">
                <a:cs typeface="B Nazanin" panose="00000400000000000000" pitchFamily="2" charset="-78"/>
              </a:rPr>
              <a:t> </a:t>
            </a:r>
            <a:r>
              <a:rPr lang="en-US" sz="1800" dirty="0" err="1">
                <a:cs typeface="B Nazanin" panose="00000400000000000000" pitchFamily="2" charset="-78"/>
              </a:rPr>
              <a:t>می‌دهد</a:t>
            </a:r>
            <a:r>
              <a:rPr lang="en-US" sz="1800" dirty="0">
                <a:cs typeface="B Nazanin" panose="00000400000000000000" pitchFamily="2" charset="-78"/>
              </a:rPr>
              <a:t>. </a:t>
            </a:r>
            <a:r>
              <a:rPr lang="en-US" sz="1800" dirty="0" err="1">
                <a:cs typeface="B Nazanin" panose="00000400000000000000" pitchFamily="2" charset="-78"/>
              </a:rPr>
              <a:t>اخبار</a:t>
            </a:r>
            <a:r>
              <a:rPr lang="en-US" sz="1800" dirty="0">
                <a:cs typeface="B Nazanin" panose="00000400000000000000" pitchFamily="2" charset="-78"/>
              </a:rPr>
              <a:t> </a:t>
            </a:r>
            <a:r>
              <a:rPr lang="en-US" sz="1800" dirty="0" err="1">
                <a:cs typeface="B Nazanin" panose="00000400000000000000" pitchFamily="2" charset="-78"/>
              </a:rPr>
              <a:t>نشان</a:t>
            </a:r>
            <a:r>
              <a:rPr lang="en-US" sz="1800" dirty="0">
                <a:cs typeface="B Nazanin" panose="00000400000000000000" pitchFamily="2" charset="-78"/>
              </a:rPr>
              <a:t> </a:t>
            </a:r>
            <a:r>
              <a:rPr lang="en-US" sz="1800" dirty="0" err="1">
                <a:cs typeface="B Nazanin" panose="00000400000000000000" pitchFamily="2" charset="-78"/>
              </a:rPr>
              <a:t>می‌دهد</a:t>
            </a:r>
            <a:r>
              <a:rPr lang="en-US" sz="1800" dirty="0">
                <a:cs typeface="B Nazanin" panose="00000400000000000000" pitchFamily="2" charset="-78"/>
              </a:rPr>
              <a:t> </a:t>
            </a:r>
            <a:r>
              <a:rPr lang="en-US" sz="1800" dirty="0" err="1">
                <a:cs typeface="B Nazanin" panose="00000400000000000000" pitchFamily="2" charset="-78"/>
              </a:rPr>
              <a:t>که</a:t>
            </a:r>
            <a:r>
              <a:rPr lang="en-US" sz="1800" dirty="0">
                <a:cs typeface="B Nazanin" panose="00000400000000000000" pitchFamily="2" charset="-78"/>
              </a:rPr>
              <a:t> </a:t>
            </a:r>
            <a:r>
              <a:rPr lang="en-US" sz="1800" dirty="0" err="1">
                <a:cs typeface="B Nazanin" panose="00000400000000000000" pitchFamily="2" charset="-78"/>
              </a:rPr>
              <a:t>احتمال</a:t>
            </a:r>
            <a:r>
              <a:rPr lang="en-US" sz="1800" dirty="0">
                <a:cs typeface="B Nazanin" panose="00000400000000000000" pitchFamily="2" charset="-78"/>
              </a:rPr>
              <a:t> </a:t>
            </a:r>
            <a:r>
              <a:rPr lang="en-US" sz="1800" dirty="0" err="1">
                <a:cs typeface="B Nazanin" panose="00000400000000000000" pitchFamily="2" charset="-78"/>
              </a:rPr>
              <a:t>افزایش</a:t>
            </a:r>
            <a:r>
              <a:rPr lang="en-US" sz="1800" dirty="0">
                <a:cs typeface="B Nazanin" panose="00000400000000000000" pitchFamily="2" charset="-78"/>
              </a:rPr>
              <a:t> </a:t>
            </a:r>
            <a:r>
              <a:rPr lang="en-US" sz="1800" dirty="0" err="1">
                <a:cs typeface="B Nazanin" panose="00000400000000000000" pitchFamily="2" charset="-78"/>
              </a:rPr>
              <a:t>نرخ</a:t>
            </a:r>
            <a:r>
              <a:rPr lang="en-US" sz="1800" dirty="0">
                <a:cs typeface="B Nazanin" panose="00000400000000000000" pitchFamily="2" charset="-78"/>
              </a:rPr>
              <a:t> </a:t>
            </a:r>
            <a:r>
              <a:rPr lang="en-US" sz="1800" dirty="0" err="1">
                <a:cs typeface="B Nazanin" panose="00000400000000000000" pitchFamily="2" charset="-78"/>
              </a:rPr>
              <a:t>بهره</a:t>
            </a:r>
            <a:r>
              <a:rPr lang="en-US" sz="1800" dirty="0">
                <a:cs typeface="B Nazanin" panose="00000400000000000000" pitchFamily="2" charset="-78"/>
              </a:rPr>
              <a:t> </a:t>
            </a:r>
            <a:r>
              <a:rPr lang="en-US" sz="1800" dirty="0" err="1">
                <a:cs typeface="B Nazanin" panose="00000400000000000000" pitchFamily="2" charset="-78"/>
              </a:rPr>
              <a:t>در</a:t>
            </a:r>
            <a:r>
              <a:rPr lang="en-US" sz="1800" dirty="0">
                <a:cs typeface="B Nazanin" panose="00000400000000000000" pitchFamily="2" charset="-78"/>
              </a:rPr>
              <a:t> </a:t>
            </a:r>
            <a:r>
              <a:rPr lang="en-US" sz="1800" dirty="0" err="1">
                <a:cs typeface="B Nazanin" panose="00000400000000000000" pitchFamily="2" charset="-78"/>
              </a:rPr>
              <a:t>سپتامبر</a:t>
            </a:r>
            <a:r>
              <a:rPr lang="en-US" sz="1800" dirty="0">
                <a:cs typeface="B Nazanin" panose="00000400000000000000" pitchFamily="2" charset="-78"/>
              </a:rPr>
              <a:t> </a:t>
            </a:r>
            <a:r>
              <a:rPr lang="en-US" sz="1800" dirty="0" err="1">
                <a:cs typeface="B Nazanin" panose="00000400000000000000" pitchFamily="2" charset="-78"/>
              </a:rPr>
              <a:t>از</a:t>
            </a:r>
            <a:r>
              <a:rPr lang="en-US" sz="1800" dirty="0">
                <a:cs typeface="B Nazanin" panose="00000400000000000000" pitchFamily="2" charset="-78"/>
              </a:rPr>
              <a:t> ۲۹٪ </a:t>
            </a:r>
            <a:r>
              <a:rPr lang="en-US" sz="1800" dirty="0" err="1">
                <a:cs typeface="B Nazanin" panose="00000400000000000000" pitchFamily="2" charset="-78"/>
              </a:rPr>
              <a:t>به</a:t>
            </a:r>
            <a:r>
              <a:rPr lang="en-US" sz="1800" dirty="0">
                <a:cs typeface="B Nazanin" panose="00000400000000000000" pitchFamily="2" charset="-78"/>
              </a:rPr>
              <a:t> </a:t>
            </a:r>
            <a:r>
              <a:rPr lang="en-US" sz="1800" dirty="0" err="1">
                <a:cs typeface="B Nazanin" panose="00000400000000000000" pitchFamily="2" charset="-78"/>
              </a:rPr>
              <a:t>حدود</a:t>
            </a:r>
            <a:r>
              <a:rPr lang="en-US" sz="1800" dirty="0">
                <a:cs typeface="B Nazanin" panose="00000400000000000000" pitchFamily="2" charset="-78"/>
              </a:rPr>
              <a:t> ۶۸٪ </a:t>
            </a:r>
            <a:r>
              <a:rPr lang="en-US" sz="1800" dirty="0" err="1">
                <a:cs typeface="B Nazanin" panose="00000400000000000000" pitchFamily="2" charset="-78"/>
              </a:rPr>
              <a:t>افزایش</a:t>
            </a:r>
            <a:r>
              <a:rPr lang="en-US" sz="1800" dirty="0">
                <a:cs typeface="B Nazanin" panose="00000400000000000000" pitchFamily="2" charset="-78"/>
              </a:rPr>
              <a:t> </a:t>
            </a:r>
            <a:r>
              <a:rPr lang="en-US" sz="1800" dirty="0" err="1">
                <a:cs typeface="B Nazanin" panose="00000400000000000000" pitchFamily="2" charset="-78"/>
              </a:rPr>
              <a:t>یافته</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a:t>
            </a:r>
          </a:p>
          <a:p>
            <a:pPr algn="r" rtl="1"/>
            <a:r>
              <a:rPr lang="en-US" sz="1800" b="1" dirty="0" err="1">
                <a:cs typeface="B Nazanin" panose="00000400000000000000" pitchFamily="2" charset="-78"/>
              </a:rPr>
              <a:t>عدم</a:t>
            </a:r>
            <a:r>
              <a:rPr lang="en-US" sz="1800" b="1" dirty="0">
                <a:cs typeface="B Nazanin" panose="00000400000000000000" pitchFamily="2" charset="-78"/>
              </a:rPr>
              <a:t> </a:t>
            </a:r>
            <a:r>
              <a:rPr lang="en-US" sz="1800" b="1" dirty="0" err="1">
                <a:cs typeface="B Nazanin" panose="00000400000000000000" pitchFamily="2" charset="-78"/>
              </a:rPr>
              <a:t>اطمینان</a:t>
            </a:r>
            <a:r>
              <a:rPr lang="en-US" sz="1800" b="1" dirty="0">
                <a:cs typeface="B Nazanin" panose="00000400000000000000" pitchFamily="2" charset="-78"/>
              </a:rPr>
              <a:t> </a:t>
            </a:r>
            <a:r>
              <a:rPr lang="en-US" sz="1800" b="1" dirty="0" err="1">
                <a:cs typeface="B Nazanin" panose="00000400000000000000" pitchFamily="2" charset="-78"/>
              </a:rPr>
              <a:t>ژئوپلیتیکی</a:t>
            </a:r>
            <a:r>
              <a:rPr lang="en-US" sz="1800" b="1" dirty="0">
                <a:cs typeface="B Nazanin" panose="00000400000000000000" pitchFamily="2" charset="-78"/>
              </a:rPr>
              <a:t>:</a:t>
            </a:r>
            <a:r>
              <a:rPr lang="en-US" sz="1800" dirty="0">
                <a:cs typeface="B Nazanin" panose="00000400000000000000" pitchFamily="2" charset="-78"/>
              </a:rPr>
              <a:t> </a:t>
            </a:r>
            <a:r>
              <a:rPr lang="en-US" sz="1800" dirty="0" err="1">
                <a:cs typeface="B Nazanin" panose="00000400000000000000" pitchFamily="2" charset="-78"/>
              </a:rPr>
              <a:t>با</a:t>
            </a:r>
            <a:r>
              <a:rPr lang="en-US" sz="1800" dirty="0">
                <a:cs typeface="B Nazanin" panose="00000400000000000000" pitchFamily="2" charset="-78"/>
              </a:rPr>
              <a:t> </a:t>
            </a:r>
            <a:r>
              <a:rPr lang="en-US" sz="1800" dirty="0" err="1">
                <a:cs typeface="B Nazanin" panose="00000400000000000000" pitchFamily="2" charset="-78"/>
              </a:rPr>
              <a:t>وجود</a:t>
            </a:r>
            <a:r>
              <a:rPr lang="en-US" sz="1800" dirty="0">
                <a:cs typeface="B Nazanin" panose="00000400000000000000" pitchFamily="2" charset="-78"/>
              </a:rPr>
              <a:t> </a:t>
            </a:r>
            <a:r>
              <a:rPr lang="en-US" sz="1800" dirty="0" err="1">
                <a:cs typeface="B Nazanin" panose="00000400000000000000" pitchFamily="2" charset="-78"/>
              </a:rPr>
              <a:t>تنش‌های</a:t>
            </a:r>
            <a:r>
              <a:rPr lang="en-US" sz="1800" dirty="0">
                <a:cs typeface="B Nazanin" panose="00000400000000000000" pitchFamily="2" charset="-78"/>
              </a:rPr>
              <a:t> </a:t>
            </a:r>
            <a:r>
              <a:rPr lang="en-US" sz="1800" dirty="0" err="1">
                <a:cs typeface="B Nazanin" panose="00000400000000000000" pitchFamily="2" charset="-78"/>
              </a:rPr>
              <a:t>ژئوپلیتیکی</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نتوانسته</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 </a:t>
            </a:r>
            <a:r>
              <a:rPr lang="en-US" sz="1800" dirty="0" err="1">
                <a:cs typeface="B Nazanin" panose="00000400000000000000" pitchFamily="2" charset="-78"/>
              </a:rPr>
              <a:t>نقش</a:t>
            </a:r>
            <a:r>
              <a:rPr lang="en-US" sz="1800" dirty="0">
                <a:cs typeface="B Nazanin" panose="00000400000000000000" pitchFamily="2" charset="-78"/>
              </a:rPr>
              <a:t> </a:t>
            </a:r>
            <a:r>
              <a:rPr lang="en-US" sz="1800" dirty="0" err="1">
                <a:cs typeface="B Nazanin" panose="00000400000000000000" pitchFamily="2" charset="-78"/>
              </a:rPr>
              <a:t>سنتی</a:t>
            </a:r>
            <a:r>
              <a:rPr lang="en-US" sz="1800" dirty="0">
                <a:cs typeface="B Nazanin" panose="00000400000000000000" pitchFamily="2" charset="-78"/>
              </a:rPr>
              <a:t> </a:t>
            </a:r>
            <a:r>
              <a:rPr lang="en-US" sz="1800" dirty="0" err="1">
                <a:cs typeface="B Nazanin" panose="00000400000000000000" pitchFamily="2" charset="-78"/>
              </a:rPr>
              <a:t>خود</a:t>
            </a:r>
            <a:r>
              <a:rPr lang="en-US" sz="1800" dirty="0">
                <a:cs typeface="B Nazanin" panose="00000400000000000000" pitchFamily="2" charset="-78"/>
              </a:rPr>
              <a:t> </a:t>
            </a:r>
            <a:r>
              <a:rPr lang="en-US" sz="1800" dirty="0" err="1">
                <a:cs typeface="B Nazanin" panose="00000400000000000000" pitchFamily="2" charset="-78"/>
              </a:rPr>
              <a:t>را</a:t>
            </a:r>
            <a:r>
              <a:rPr lang="en-US" sz="1800" dirty="0">
                <a:cs typeface="B Nazanin" panose="00000400000000000000" pitchFamily="2" charset="-78"/>
              </a:rPr>
              <a:t> </a:t>
            </a:r>
            <a:r>
              <a:rPr lang="en-US" sz="1800" dirty="0" err="1">
                <a:cs typeface="B Nazanin" panose="00000400000000000000" pitchFamily="2" charset="-78"/>
              </a:rPr>
              <a:t>به</a:t>
            </a:r>
            <a:r>
              <a:rPr lang="en-US" sz="1800" dirty="0">
                <a:cs typeface="B Nazanin" panose="00000400000000000000" pitchFamily="2" charset="-78"/>
              </a:rPr>
              <a:t> </a:t>
            </a:r>
            <a:r>
              <a:rPr lang="en-US" sz="1800" dirty="0" err="1">
                <a:cs typeface="B Nazanin" panose="00000400000000000000" pitchFamily="2" charset="-78"/>
              </a:rPr>
              <a:t>عنوان</a:t>
            </a:r>
            <a:r>
              <a:rPr lang="en-US" sz="1800" dirty="0">
                <a:cs typeface="B Nazanin" panose="00000400000000000000" pitchFamily="2" charset="-78"/>
              </a:rPr>
              <a:t> </a:t>
            </a:r>
            <a:r>
              <a:rPr lang="en-US" sz="1800" dirty="0" err="1">
                <a:cs typeface="B Nazanin" panose="00000400000000000000" pitchFamily="2" charset="-78"/>
              </a:rPr>
              <a:t>یک</a:t>
            </a:r>
            <a:r>
              <a:rPr lang="en-US" sz="1800" dirty="0">
                <a:cs typeface="B Nazanin" panose="00000400000000000000" pitchFamily="2" charset="-78"/>
              </a:rPr>
              <a:t> </a:t>
            </a:r>
            <a:r>
              <a:rPr lang="en-US" sz="1800" dirty="0" err="1">
                <a:cs typeface="B Nazanin" panose="00000400000000000000" pitchFamily="2" charset="-78"/>
              </a:rPr>
              <a:t>دارایی</a:t>
            </a:r>
            <a:r>
              <a:rPr lang="en-US" sz="1800" dirty="0">
                <a:cs typeface="B Nazanin" panose="00000400000000000000" pitchFamily="2" charset="-78"/>
              </a:rPr>
              <a:t> </a:t>
            </a:r>
            <a:r>
              <a:rPr lang="en-US" sz="1800" dirty="0" err="1">
                <a:cs typeface="B Nazanin" panose="00000400000000000000" pitchFamily="2" charset="-78"/>
              </a:rPr>
              <a:t>امن</a:t>
            </a:r>
            <a:r>
              <a:rPr lang="en-US" sz="1800" dirty="0">
                <a:cs typeface="B Nazanin" panose="00000400000000000000" pitchFamily="2" charset="-78"/>
              </a:rPr>
              <a:t> </a:t>
            </a:r>
            <a:r>
              <a:rPr lang="en-US" sz="1800" dirty="0" err="1">
                <a:cs typeface="B Nazanin" panose="00000400000000000000" pitchFamily="2" charset="-78"/>
              </a:rPr>
              <a:t>به</a:t>
            </a:r>
            <a:r>
              <a:rPr lang="en-US" sz="1800" dirty="0">
                <a:cs typeface="B Nazanin" panose="00000400000000000000" pitchFamily="2" charset="-78"/>
              </a:rPr>
              <a:t> </a:t>
            </a:r>
            <a:r>
              <a:rPr lang="en-US" sz="1800" dirty="0" err="1">
                <a:cs typeface="B Nazanin" panose="00000400000000000000" pitchFamily="2" charset="-78"/>
              </a:rPr>
              <a:t>طور</a:t>
            </a:r>
            <a:r>
              <a:rPr lang="en-US" sz="1800" dirty="0">
                <a:cs typeface="B Nazanin" panose="00000400000000000000" pitchFamily="2" charset="-78"/>
              </a:rPr>
              <a:t> </a:t>
            </a:r>
            <a:r>
              <a:rPr lang="en-US" sz="1800" dirty="0" err="1">
                <a:cs typeface="B Nazanin" panose="00000400000000000000" pitchFamily="2" charset="-78"/>
              </a:rPr>
              <a:t>کامل</a:t>
            </a:r>
            <a:r>
              <a:rPr lang="en-US" sz="1800" dirty="0">
                <a:cs typeface="B Nazanin" panose="00000400000000000000" pitchFamily="2" charset="-78"/>
              </a:rPr>
              <a:t> </a:t>
            </a:r>
            <a:r>
              <a:rPr lang="en-US" sz="1800" dirty="0" err="1">
                <a:cs typeface="B Nazanin" panose="00000400000000000000" pitchFamily="2" charset="-78"/>
              </a:rPr>
              <a:t>ایفا</a:t>
            </a:r>
            <a:r>
              <a:rPr lang="en-US" sz="1800" dirty="0">
                <a:cs typeface="B Nazanin" panose="00000400000000000000" pitchFamily="2" charset="-78"/>
              </a:rPr>
              <a:t> </a:t>
            </a:r>
            <a:r>
              <a:rPr lang="en-US" sz="1800" dirty="0" err="1">
                <a:cs typeface="B Nazanin" panose="00000400000000000000" pitchFamily="2" charset="-78"/>
              </a:rPr>
              <a:t>کند</a:t>
            </a:r>
            <a:r>
              <a:rPr lang="en-US" sz="1800" dirty="0">
                <a:cs typeface="B Nazanin" panose="00000400000000000000" pitchFamily="2" charset="-78"/>
              </a:rPr>
              <a:t>.</a:t>
            </a:r>
          </a:p>
          <a:p>
            <a:pPr algn="r" rtl="1"/>
            <a:r>
              <a:rPr lang="en-US" sz="1800" b="1" dirty="0" err="1">
                <a:cs typeface="B Nazanin" panose="00000400000000000000" pitchFamily="2" charset="-78"/>
              </a:rPr>
              <a:t>ریسک‌ها</a:t>
            </a:r>
            <a:r>
              <a:rPr lang="en-US" sz="1800" b="1" dirty="0">
                <a:cs typeface="B Nazanin" panose="00000400000000000000" pitchFamily="2" charset="-78"/>
              </a:rPr>
              <a:t>:</a:t>
            </a:r>
            <a:endParaRPr lang="en-US" sz="1800" dirty="0">
              <a:cs typeface="B Nazanin" panose="00000400000000000000" pitchFamily="2" charset="-78"/>
            </a:endParaRPr>
          </a:p>
          <a:p>
            <a:pPr algn="r" rtl="1"/>
            <a:r>
              <a:rPr lang="en-US" sz="1800" b="1" dirty="0" err="1">
                <a:cs typeface="B Nazanin" panose="00000400000000000000" pitchFamily="2" charset="-78"/>
              </a:rPr>
              <a:t>سیاست‌های</a:t>
            </a:r>
            <a:r>
              <a:rPr lang="en-US" sz="1800" b="1" dirty="0">
                <a:cs typeface="B Nazanin" panose="00000400000000000000" pitchFamily="2" charset="-78"/>
              </a:rPr>
              <a:t> </a:t>
            </a:r>
            <a:r>
              <a:rPr lang="en-US" sz="1800" b="1" dirty="0" err="1">
                <a:cs typeface="B Nazanin" panose="00000400000000000000" pitchFamily="2" charset="-78"/>
              </a:rPr>
              <a:t>انقباضی</a:t>
            </a:r>
            <a:r>
              <a:rPr lang="en-US" sz="1800" b="1" dirty="0">
                <a:cs typeface="B Nazanin" panose="00000400000000000000" pitchFamily="2" charset="-78"/>
              </a:rPr>
              <a:t> فدرال </a:t>
            </a:r>
            <a:r>
              <a:rPr lang="en-US" sz="1800" b="1" dirty="0" err="1">
                <a:cs typeface="B Nazanin" panose="00000400000000000000" pitchFamily="2" charset="-78"/>
              </a:rPr>
              <a:t>رزرو</a:t>
            </a:r>
            <a:r>
              <a:rPr lang="en-US" sz="1800" b="1" dirty="0">
                <a:cs typeface="B Nazanin" panose="00000400000000000000" pitchFamily="2" charset="-78"/>
              </a:rPr>
              <a:t>:</a:t>
            </a:r>
            <a:r>
              <a:rPr lang="en-US" sz="1800" dirty="0">
                <a:cs typeface="B Nazanin" panose="00000400000000000000" pitchFamily="2" charset="-78"/>
              </a:rPr>
              <a:t> </a:t>
            </a:r>
            <a:r>
              <a:rPr lang="en-US" sz="1800" dirty="0" err="1">
                <a:cs typeface="B Nazanin" panose="00000400000000000000" pitchFamily="2" charset="-78"/>
              </a:rPr>
              <a:t>ادامه</a:t>
            </a:r>
            <a:r>
              <a:rPr lang="en-US" sz="1800" dirty="0">
                <a:cs typeface="B Nazanin" panose="00000400000000000000" pitchFamily="2" charset="-78"/>
              </a:rPr>
              <a:t> </a:t>
            </a:r>
            <a:r>
              <a:rPr lang="en-US" sz="1800" dirty="0" err="1">
                <a:cs typeface="B Nazanin" panose="00000400000000000000" pitchFamily="2" charset="-78"/>
              </a:rPr>
              <a:t>سیاست‌های</a:t>
            </a:r>
            <a:r>
              <a:rPr lang="en-US" sz="1800" dirty="0">
                <a:cs typeface="B Nazanin" panose="00000400000000000000" pitchFamily="2" charset="-78"/>
              </a:rPr>
              <a:t> </a:t>
            </a:r>
            <a:r>
              <a:rPr lang="en-US" sz="1800" dirty="0" err="1">
                <a:cs typeface="B Nazanin" panose="00000400000000000000" pitchFamily="2" charset="-78"/>
              </a:rPr>
              <a:t>انقباضی</a:t>
            </a:r>
            <a:r>
              <a:rPr lang="en-US" sz="1800" dirty="0">
                <a:cs typeface="B Nazanin" panose="00000400000000000000" pitchFamily="2" charset="-78"/>
              </a:rPr>
              <a:t> و </a:t>
            </a:r>
            <a:r>
              <a:rPr lang="en-US" sz="1800" dirty="0" err="1">
                <a:cs typeface="B Nazanin" panose="00000400000000000000" pitchFamily="2" charset="-78"/>
              </a:rPr>
              <a:t>افزایش</a:t>
            </a:r>
            <a:r>
              <a:rPr lang="en-US" sz="1800" dirty="0">
                <a:cs typeface="B Nazanin" panose="00000400000000000000" pitchFamily="2" charset="-78"/>
              </a:rPr>
              <a:t> </a:t>
            </a:r>
            <a:r>
              <a:rPr lang="en-US" sz="1800" dirty="0" err="1">
                <a:cs typeface="B Nazanin" panose="00000400000000000000" pitchFamily="2" charset="-78"/>
              </a:rPr>
              <a:t>نرخ</a:t>
            </a:r>
            <a:r>
              <a:rPr lang="en-US" sz="1800" dirty="0">
                <a:cs typeface="B Nazanin" panose="00000400000000000000" pitchFamily="2" charset="-78"/>
              </a:rPr>
              <a:t> </a:t>
            </a:r>
            <a:r>
              <a:rPr lang="en-US" sz="1800" dirty="0" err="1">
                <a:cs typeface="B Nazanin" panose="00000400000000000000" pitchFamily="2" charset="-78"/>
              </a:rPr>
              <a:t>بهره</a:t>
            </a:r>
            <a:r>
              <a:rPr lang="en-US" sz="1800" dirty="0">
                <a:cs typeface="B Nazanin" panose="00000400000000000000" pitchFamily="2" charset="-78"/>
              </a:rPr>
              <a:t> </a:t>
            </a:r>
            <a:r>
              <a:rPr lang="en-US" sz="1800" dirty="0" err="1">
                <a:cs typeface="B Nazanin" panose="00000400000000000000" pitchFamily="2" charset="-78"/>
              </a:rPr>
              <a:t>می‌تواند</a:t>
            </a:r>
            <a:r>
              <a:rPr lang="en-US" sz="1800" dirty="0">
                <a:cs typeface="B Nazanin" panose="00000400000000000000" pitchFamily="2" charset="-78"/>
              </a:rPr>
              <a:t> </a:t>
            </a:r>
            <a:r>
              <a:rPr lang="en-US" sz="1800" dirty="0" err="1">
                <a:cs typeface="B Nazanin" panose="00000400000000000000" pitchFamily="2" charset="-78"/>
              </a:rPr>
              <a:t>ادامه</a:t>
            </a:r>
            <a:r>
              <a:rPr lang="en-US" sz="1800" dirty="0">
                <a:cs typeface="B Nazanin" panose="00000400000000000000" pitchFamily="2" charset="-78"/>
              </a:rPr>
              <a:t> </a:t>
            </a:r>
            <a:r>
              <a:rPr lang="en-US" sz="1800" dirty="0" err="1">
                <a:cs typeface="B Nazanin" panose="00000400000000000000" pitchFamily="2" charset="-78"/>
              </a:rPr>
              <a:t>دهنده</a:t>
            </a:r>
            <a:r>
              <a:rPr lang="en-US" sz="1800" dirty="0">
                <a:cs typeface="B Nazanin" panose="00000400000000000000" pitchFamily="2" charset="-78"/>
              </a:rPr>
              <a:t> </a:t>
            </a:r>
            <a:r>
              <a:rPr lang="en-US" sz="1800" dirty="0" err="1">
                <a:cs typeface="B Nazanin" panose="00000400000000000000" pitchFamily="2" charset="-78"/>
              </a:rPr>
              <a:t>روند</a:t>
            </a:r>
            <a:r>
              <a:rPr lang="en-US" sz="1800" dirty="0">
                <a:cs typeface="B Nazanin" panose="00000400000000000000" pitchFamily="2" charset="-78"/>
              </a:rPr>
              <a:t> </a:t>
            </a:r>
            <a:r>
              <a:rPr lang="en-US" sz="1800" dirty="0" err="1">
                <a:cs typeface="B Nazanin" panose="00000400000000000000" pitchFamily="2" charset="-78"/>
              </a:rPr>
              <a:t>نزولی</a:t>
            </a:r>
            <a:r>
              <a:rPr lang="en-US" sz="1800" dirty="0">
                <a:cs typeface="B Nazanin" panose="00000400000000000000" pitchFamily="2" charset="-78"/>
              </a:rPr>
              <a:t> </a:t>
            </a:r>
            <a:r>
              <a:rPr lang="en-US" sz="1800" dirty="0" err="1">
                <a:cs typeface="B Nazanin" panose="00000400000000000000" pitchFamily="2" charset="-78"/>
              </a:rPr>
              <a:t>قیمت</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باشد</a:t>
            </a:r>
            <a:r>
              <a:rPr lang="en-US" sz="1800" dirty="0">
                <a:cs typeface="B Nazanin" panose="00000400000000000000" pitchFamily="2" charset="-78"/>
              </a:rPr>
              <a:t>.</a:t>
            </a:r>
          </a:p>
          <a:p>
            <a:pPr algn="r" rtl="1"/>
            <a:r>
              <a:rPr lang="en-US" sz="1800" b="1" dirty="0" err="1">
                <a:cs typeface="B Nazanin" panose="00000400000000000000" pitchFamily="2" charset="-78"/>
              </a:rPr>
              <a:t>تقویت</a:t>
            </a:r>
            <a:r>
              <a:rPr lang="en-US" sz="1800" b="1" dirty="0">
                <a:cs typeface="B Nazanin" panose="00000400000000000000" pitchFamily="2" charset="-78"/>
              </a:rPr>
              <a:t> </a:t>
            </a:r>
            <a:r>
              <a:rPr lang="en-US" sz="1800" b="1" dirty="0" err="1">
                <a:cs typeface="B Nazanin" panose="00000400000000000000" pitchFamily="2" charset="-78"/>
              </a:rPr>
              <a:t>مداوم</a:t>
            </a:r>
            <a:r>
              <a:rPr lang="en-US" sz="1800" b="1" dirty="0">
                <a:cs typeface="B Nazanin" panose="00000400000000000000" pitchFamily="2" charset="-78"/>
              </a:rPr>
              <a:t> </a:t>
            </a:r>
            <a:r>
              <a:rPr lang="en-US" sz="1800" b="1" dirty="0" err="1">
                <a:cs typeface="B Nazanin" panose="00000400000000000000" pitchFamily="2" charset="-78"/>
              </a:rPr>
              <a:t>دلار</a:t>
            </a:r>
            <a:r>
              <a:rPr lang="en-US" sz="1800" b="1" dirty="0">
                <a:cs typeface="B Nazanin" panose="00000400000000000000" pitchFamily="2" charset="-78"/>
              </a:rPr>
              <a:t>:</a:t>
            </a:r>
            <a:r>
              <a:rPr lang="en-US" sz="1800" dirty="0">
                <a:cs typeface="B Nazanin" panose="00000400000000000000" pitchFamily="2" charset="-78"/>
              </a:rPr>
              <a:t> </a:t>
            </a:r>
            <a:r>
              <a:rPr lang="en-US" sz="1800" dirty="0" err="1">
                <a:cs typeface="B Nazanin" panose="00000400000000000000" pitchFamily="2" charset="-78"/>
              </a:rPr>
              <a:t>هرگونه</a:t>
            </a:r>
            <a:r>
              <a:rPr lang="en-US" sz="1800" dirty="0">
                <a:cs typeface="B Nazanin" panose="00000400000000000000" pitchFamily="2" charset="-78"/>
              </a:rPr>
              <a:t> </a:t>
            </a:r>
            <a:r>
              <a:rPr lang="en-US" sz="1800" dirty="0" err="1">
                <a:cs typeface="B Nazanin" panose="00000400000000000000" pitchFamily="2" charset="-78"/>
              </a:rPr>
              <a:t>تقویت</a:t>
            </a:r>
            <a:r>
              <a:rPr lang="en-US" sz="1800" dirty="0">
                <a:cs typeface="B Nazanin" panose="00000400000000000000" pitchFamily="2" charset="-78"/>
              </a:rPr>
              <a:t> </a:t>
            </a:r>
            <a:r>
              <a:rPr lang="en-US" sz="1800" dirty="0" err="1">
                <a:cs typeface="B Nazanin" panose="00000400000000000000" pitchFamily="2" charset="-78"/>
              </a:rPr>
              <a:t>بیشتر</a:t>
            </a:r>
            <a:r>
              <a:rPr lang="en-US" sz="1800" dirty="0">
                <a:cs typeface="B Nazanin" panose="00000400000000000000" pitchFamily="2" charset="-78"/>
              </a:rPr>
              <a:t> </a:t>
            </a:r>
            <a:r>
              <a:rPr lang="en-US" sz="1800" dirty="0" err="1">
                <a:cs typeface="B Nazanin" panose="00000400000000000000" pitchFamily="2" charset="-78"/>
              </a:rPr>
              <a:t>دلار</a:t>
            </a:r>
            <a:r>
              <a:rPr lang="en-US" sz="1800" dirty="0">
                <a:cs typeface="B Nazanin" panose="00000400000000000000" pitchFamily="2" charset="-78"/>
              </a:rPr>
              <a:t> </a:t>
            </a:r>
            <a:r>
              <a:rPr lang="en-US" sz="1800" dirty="0" err="1">
                <a:cs typeface="B Nazanin" panose="00000400000000000000" pitchFamily="2" charset="-78"/>
              </a:rPr>
              <a:t>آمریکا</a:t>
            </a:r>
            <a:r>
              <a:rPr lang="en-US" sz="1800" dirty="0">
                <a:cs typeface="B Nazanin" panose="00000400000000000000" pitchFamily="2" charset="-78"/>
              </a:rPr>
              <a:t> </a:t>
            </a:r>
            <a:r>
              <a:rPr lang="en-US" sz="1800" dirty="0" err="1">
                <a:cs typeface="B Nazanin" panose="00000400000000000000" pitchFamily="2" charset="-78"/>
              </a:rPr>
              <a:t>می‌تواند</a:t>
            </a:r>
            <a:r>
              <a:rPr lang="en-US" sz="1800" dirty="0">
                <a:cs typeface="B Nazanin" panose="00000400000000000000" pitchFamily="2" charset="-78"/>
              </a:rPr>
              <a:t> </a:t>
            </a:r>
            <a:r>
              <a:rPr lang="en-US" sz="1800" dirty="0" err="1">
                <a:cs typeface="B Nazanin" panose="00000400000000000000" pitchFamily="2" charset="-78"/>
              </a:rPr>
              <a:t>فشار</a:t>
            </a:r>
            <a:r>
              <a:rPr lang="en-US" sz="1800" dirty="0">
                <a:cs typeface="B Nazanin" panose="00000400000000000000" pitchFamily="2" charset="-78"/>
              </a:rPr>
              <a:t> </a:t>
            </a:r>
            <a:r>
              <a:rPr lang="en-US" sz="1800" dirty="0" err="1">
                <a:cs typeface="B Nazanin" panose="00000400000000000000" pitchFamily="2" charset="-78"/>
              </a:rPr>
              <a:t>بیشتری</a:t>
            </a:r>
            <a:r>
              <a:rPr lang="en-US" sz="1800" dirty="0">
                <a:cs typeface="B Nazanin" panose="00000400000000000000" pitchFamily="2" charset="-78"/>
              </a:rPr>
              <a:t> </a:t>
            </a:r>
            <a:r>
              <a:rPr lang="en-US" sz="1800" dirty="0" err="1">
                <a:cs typeface="B Nazanin" panose="00000400000000000000" pitchFamily="2" charset="-78"/>
              </a:rPr>
              <a:t>بر</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وارد</a:t>
            </a:r>
            <a:r>
              <a:rPr lang="en-US" sz="1800" dirty="0">
                <a:cs typeface="B Nazanin" panose="00000400000000000000" pitchFamily="2" charset="-78"/>
              </a:rPr>
              <a:t> </a:t>
            </a:r>
            <a:r>
              <a:rPr lang="en-US" sz="1800" dirty="0" err="1">
                <a:cs typeface="B Nazanin" panose="00000400000000000000" pitchFamily="2" charset="-78"/>
              </a:rPr>
              <a:t>کند</a:t>
            </a:r>
            <a:r>
              <a:rPr lang="en-US" sz="1800" dirty="0">
                <a:cs typeface="B Nazanin" panose="00000400000000000000" pitchFamily="2" charset="-78"/>
              </a:rPr>
              <a:t>.</a:t>
            </a:r>
          </a:p>
          <a:p>
            <a:pPr algn="r" rtl="1"/>
            <a:r>
              <a:rPr lang="en-US" sz="1800" b="1" dirty="0" err="1">
                <a:cs typeface="B Nazanin" panose="00000400000000000000" pitchFamily="2" charset="-78"/>
              </a:rPr>
              <a:t>چشم‌انداز</a:t>
            </a:r>
            <a:r>
              <a:rPr lang="en-US" sz="1800" b="1" dirty="0">
                <a:cs typeface="B Nazanin" panose="00000400000000000000" pitchFamily="2" charset="-78"/>
              </a:rPr>
              <a:t> </a:t>
            </a:r>
            <a:r>
              <a:rPr lang="en-US" sz="1800" b="1" dirty="0" err="1">
                <a:cs typeface="B Nazanin" panose="00000400000000000000" pitchFamily="2" charset="-78"/>
              </a:rPr>
              <a:t>کوتاه‌مدت</a:t>
            </a:r>
            <a:r>
              <a:rPr lang="en-US" sz="1800" b="1" dirty="0">
                <a:cs typeface="B Nazanin" panose="00000400000000000000" pitchFamily="2" charset="-78"/>
              </a:rPr>
              <a:t>:</a:t>
            </a:r>
            <a:r>
              <a:rPr lang="en-US" sz="1800" dirty="0">
                <a:cs typeface="B Nazanin" panose="00000400000000000000" pitchFamily="2" charset="-78"/>
              </a:rPr>
              <a:t> </a:t>
            </a:r>
            <a:r>
              <a:rPr lang="en-US" sz="1800" dirty="0" err="1">
                <a:cs typeface="B Nazanin" panose="00000400000000000000" pitchFamily="2" charset="-78"/>
              </a:rPr>
              <a:t>با</a:t>
            </a:r>
            <a:r>
              <a:rPr lang="en-US" sz="1800" dirty="0">
                <a:cs typeface="B Nazanin" panose="00000400000000000000" pitchFamily="2" charset="-78"/>
              </a:rPr>
              <a:t> </a:t>
            </a:r>
            <a:r>
              <a:rPr lang="en-US" sz="1800" dirty="0" err="1">
                <a:cs typeface="B Nazanin" panose="00000400000000000000" pitchFamily="2" charset="-78"/>
              </a:rPr>
              <a:t>توجه</a:t>
            </a:r>
            <a:r>
              <a:rPr lang="en-US" sz="1800" dirty="0">
                <a:cs typeface="B Nazanin" panose="00000400000000000000" pitchFamily="2" charset="-78"/>
              </a:rPr>
              <a:t> </a:t>
            </a:r>
            <a:r>
              <a:rPr lang="en-US" sz="1800" dirty="0" err="1">
                <a:cs typeface="B Nazanin" panose="00000400000000000000" pitchFamily="2" charset="-78"/>
              </a:rPr>
              <a:t>به</a:t>
            </a:r>
            <a:r>
              <a:rPr lang="en-US" sz="1800" dirty="0">
                <a:cs typeface="B Nazanin" panose="00000400000000000000" pitchFamily="2" charset="-78"/>
              </a:rPr>
              <a:t> </a:t>
            </a:r>
            <a:r>
              <a:rPr lang="en-US" sz="1800" dirty="0" err="1">
                <a:cs typeface="B Nazanin" panose="00000400000000000000" pitchFamily="2" charset="-78"/>
              </a:rPr>
              <a:t>فشارهای</a:t>
            </a:r>
            <a:r>
              <a:rPr lang="en-US" sz="1800" dirty="0">
                <a:cs typeface="B Nazanin" panose="00000400000000000000" pitchFamily="2" charset="-78"/>
              </a:rPr>
              <a:t> </a:t>
            </a:r>
            <a:r>
              <a:rPr lang="en-US" sz="1800" dirty="0" err="1">
                <a:cs typeface="B Nazanin" panose="00000400000000000000" pitchFamily="2" charset="-78"/>
              </a:rPr>
              <a:t>فعلی</a:t>
            </a:r>
            <a:r>
              <a:rPr lang="en-US" sz="1800" dirty="0">
                <a:cs typeface="B Nazanin" panose="00000400000000000000" pitchFamily="2" charset="-78"/>
              </a:rPr>
              <a:t> </a:t>
            </a:r>
            <a:r>
              <a:rPr lang="en-US" sz="1800" dirty="0" err="1">
                <a:cs typeface="B Nazanin" panose="00000400000000000000" pitchFamily="2" charset="-78"/>
              </a:rPr>
              <a:t>ناشی</a:t>
            </a:r>
            <a:r>
              <a:rPr lang="en-US" sz="1800" dirty="0">
                <a:cs typeface="B Nazanin" panose="00000400000000000000" pitchFamily="2" charset="-78"/>
              </a:rPr>
              <a:t> </a:t>
            </a:r>
            <a:r>
              <a:rPr lang="en-US" sz="1800" dirty="0" err="1">
                <a:cs typeface="B Nazanin" panose="00000400000000000000" pitchFamily="2" charset="-78"/>
              </a:rPr>
              <a:t>از</a:t>
            </a:r>
            <a:r>
              <a:rPr lang="en-US" sz="1800" dirty="0">
                <a:cs typeface="B Nazanin" panose="00000400000000000000" pitchFamily="2" charset="-78"/>
              </a:rPr>
              <a:t> </a:t>
            </a:r>
            <a:r>
              <a:rPr lang="en-US" sz="1800" dirty="0" err="1">
                <a:cs typeface="B Nazanin" panose="00000400000000000000" pitchFamily="2" charset="-78"/>
              </a:rPr>
              <a:t>دلار</a:t>
            </a:r>
            <a:r>
              <a:rPr lang="en-US" sz="1800" dirty="0">
                <a:cs typeface="B Nazanin" panose="00000400000000000000" pitchFamily="2" charset="-78"/>
              </a:rPr>
              <a:t> </a:t>
            </a:r>
            <a:r>
              <a:rPr lang="en-US" sz="1800" dirty="0" err="1">
                <a:cs typeface="B Nazanin" panose="00000400000000000000" pitchFamily="2" charset="-78"/>
              </a:rPr>
              <a:t>قوی</a:t>
            </a:r>
            <a:r>
              <a:rPr lang="en-US" sz="1800" dirty="0">
                <a:cs typeface="B Nazanin" panose="00000400000000000000" pitchFamily="2" charset="-78"/>
              </a:rPr>
              <a:t> و </a:t>
            </a:r>
            <a:r>
              <a:rPr lang="en-US" sz="1800" dirty="0" err="1">
                <a:cs typeface="B Nazanin" panose="00000400000000000000" pitchFamily="2" charset="-78"/>
              </a:rPr>
              <a:t>انتظارات</a:t>
            </a:r>
            <a:r>
              <a:rPr lang="en-US" sz="1800" dirty="0">
                <a:cs typeface="B Nazanin" panose="00000400000000000000" pitchFamily="2" charset="-78"/>
              </a:rPr>
              <a:t> </a:t>
            </a:r>
            <a:r>
              <a:rPr lang="en-US" sz="1800" dirty="0" err="1">
                <a:cs typeface="B Nazanin" panose="00000400000000000000" pitchFamily="2" charset="-78"/>
              </a:rPr>
              <a:t>افزایش</a:t>
            </a:r>
            <a:r>
              <a:rPr lang="en-US" sz="1800" dirty="0">
                <a:cs typeface="B Nazanin" panose="00000400000000000000" pitchFamily="2" charset="-78"/>
              </a:rPr>
              <a:t> </a:t>
            </a:r>
            <a:r>
              <a:rPr lang="en-US" sz="1800" dirty="0" err="1">
                <a:cs typeface="B Nazanin" panose="00000400000000000000" pitchFamily="2" charset="-78"/>
              </a:rPr>
              <a:t>نرخ</a:t>
            </a:r>
            <a:r>
              <a:rPr lang="en-US" sz="1800" dirty="0">
                <a:cs typeface="B Nazanin" panose="00000400000000000000" pitchFamily="2" charset="-78"/>
              </a:rPr>
              <a:t> </a:t>
            </a:r>
            <a:r>
              <a:rPr lang="en-US" sz="1800" dirty="0" err="1">
                <a:cs typeface="B Nazanin" panose="00000400000000000000" pitchFamily="2" charset="-78"/>
              </a:rPr>
              <a:t>بهره</a:t>
            </a:r>
            <a:r>
              <a:rPr lang="en-US" sz="1800" dirty="0">
                <a:cs typeface="B Nazanin" panose="00000400000000000000" pitchFamily="2" charset="-78"/>
              </a:rPr>
              <a:t>، </a:t>
            </a:r>
            <a:r>
              <a:rPr lang="en-US" sz="1800" dirty="0" err="1">
                <a:cs typeface="B Nazanin" panose="00000400000000000000" pitchFamily="2" charset="-78"/>
              </a:rPr>
              <a:t>چشم‌انداز</a:t>
            </a:r>
            <a:r>
              <a:rPr lang="en-US" sz="1800" dirty="0">
                <a:cs typeface="B Nazanin" panose="00000400000000000000" pitchFamily="2" charset="-78"/>
              </a:rPr>
              <a:t> </a:t>
            </a:r>
            <a:r>
              <a:rPr lang="en-US" sz="1800" dirty="0" err="1">
                <a:cs typeface="B Nazanin" panose="00000400000000000000" pitchFamily="2" charset="-78"/>
              </a:rPr>
              <a:t>کوتاه‌مدت</a:t>
            </a:r>
            <a:r>
              <a:rPr lang="en-US" sz="1800" dirty="0">
                <a:cs typeface="B Nazanin" panose="00000400000000000000" pitchFamily="2" charset="-78"/>
              </a:rPr>
              <a:t> </a:t>
            </a:r>
            <a:r>
              <a:rPr lang="en-US" sz="1800" dirty="0" err="1">
                <a:cs typeface="B Nazanin" panose="00000400000000000000" pitchFamily="2" charset="-78"/>
              </a:rPr>
              <a:t>برای</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همچنان</a:t>
            </a:r>
            <a:r>
              <a:rPr lang="en-US" sz="1800" dirty="0">
                <a:cs typeface="B Nazanin" panose="00000400000000000000" pitchFamily="2" charset="-78"/>
              </a:rPr>
              <a:t> </a:t>
            </a:r>
            <a:r>
              <a:rPr lang="en-US" sz="1800" dirty="0" err="1">
                <a:cs typeface="B Nazanin" panose="00000400000000000000" pitchFamily="2" charset="-78"/>
              </a:rPr>
              <a:t>با</a:t>
            </a:r>
            <a:r>
              <a:rPr lang="en-US" sz="1800" dirty="0">
                <a:cs typeface="B Nazanin" panose="00000400000000000000" pitchFamily="2" charset="-78"/>
              </a:rPr>
              <a:t> </a:t>
            </a:r>
            <a:r>
              <a:rPr lang="en-US" sz="1800" dirty="0" err="1">
                <a:cs typeface="B Nazanin" panose="00000400000000000000" pitchFamily="2" charset="-78"/>
              </a:rPr>
              <a:t>عدم</a:t>
            </a:r>
            <a:r>
              <a:rPr lang="en-US" sz="1800" dirty="0">
                <a:cs typeface="B Nazanin" panose="00000400000000000000" pitchFamily="2" charset="-78"/>
              </a:rPr>
              <a:t> </a:t>
            </a:r>
            <a:r>
              <a:rPr lang="en-US" sz="1800" dirty="0" err="1">
                <a:cs typeface="B Nazanin" panose="00000400000000000000" pitchFamily="2" charset="-78"/>
              </a:rPr>
              <a:t>اطمینان</a:t>
            </a:r>
            <a:r>
              <a:rPr lang="en-US" sz="1800" dirty="0">
                <a:cs typeface="B Nazanin" panose="00000400000000000000" pitchFamily="2" charset="-78"/>
              </a:rPr>
              <a:t> </a:t>
            </a:r>
            <a:r>
              <a:rPr lang="en-US" sz="1800" dirty="0" err="1">
                <a:cs typeface="B Nazanin" panose="00000400000000000000" pitchFamily="2" charset="-78"/>
              </a:rPr>
              <a:t>همراه</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 </a:t>
            </a:r>
            <a:r>
              <a:rPr lang="en-US" sz="1800" dirty="0" err="1">
                <a:cs typeface="B Nazanin" panose="00000400000000000000" pitchFamily="2" charset="-78"/>
              </a:rPr>
              <a:t>در</a:t>
            </a:r>
            <a:r>
              <a:rPr lang="en-US" sz="1800" dirty="0">
                <a:cs typeface="B Nazanin" panose="00000400000000000000" pitchFamily="2" charset="-78"/>
              </a:rPr>
              <a:t> </a:t>
            </a:r>
            <a:r>
              <a:rPr lang="en-US" sz="1800" dirty="0" err="1">
                <a:cs typeface="B Nazanin" panose="00000400000000000000" pitchFamily="2" charset="-78"/>
              </a:rPr>
              <a:t>حالی</a:t>
            </a:r>
            <a:r>
              <a:rPr lang="en-US" sz="1800" dirty="0">
                <a:cs typeface="B Nazanin" panose="00000400000000000000" pitchFamily="2" charset="-78"/>
              </a:rPr>
              <a:t> </a:t>
            </a:r>
            <a:r>
              <a:rPr lang="en-US" sz="1800" dirty="0" err="1">
                <a:cs typeface="B Nazanin" panose="00000400000000000000" pitchFamily="2" charset="-78"/>
              </a:rPr>
              <a:t>که</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به</a:t>
            </a:r>
            <a:r>
              <a:rPr lang="en-US" sz="1800" dirty="0">
                <a:cs typeface="B Nazanin" panose="00000400000000000000" pitchFamily="2" charset="-78"/>
              </a:rPr>
              <a:t> </a:t>
            </a:r>
            <a:r>
              <a:rPr lang="en-US" sz="1800" dirty="0" err="1">
                <a:cs typeface="B Nazanin" panose="00000400000000000000" pitchFamily="2" charset="-78"/>
              </a:rPr>
              <a:t>طور</a:t>
            </a:r>
            <a:r>
              <a:rPr lang="en-US" sz="1800" dirty="0">
                <a:cs typeface="B Nazanin" panose="00000400000000000000" pitchFamily="2" charset="-78"/>
              </a:rPr>
              <a:t> </a:t>
            </a:r>
            <a:r>
              <a:rPr lang="en-US" sz="1800" dirty="0" err="1">
                <a:cs typeface="B Nazanin" panose="00000400000000000000" pitchFamily="2" charset="-78"/>
              </a:rPr>
              <a:t>سنتی</a:t>
            </a:r>
            <a:r>
              <a:rPr lang="en-US" sz="1800" dirty="0">
                <a:cs typeface="B Nazanin" panose="00000400000000000000" pitchFamily="2" charset="-78"/>
              </a:rPr>
              <a:t> </a:t>
            </a:r>
            <a:r>
              <a:rPr lang="en-US" sz="1800" dirty="0" err="1">
                <a:cs typeface="B Nazanin" panose="00000400000000000000" pitchFamily="2" charset="-78"/>
              </a:rPr>
              <a:t>در</a:t>
            </a:r>
            <a:r>
              <a:rPr lang="en-US" sz="1800" dirty="0">
                <a:cs typeface="B Nazanin" panose="00000400000000000000" pitchFamily="2" charset="-78"/>
              </a:rPr>
              <a:t> زمان </a:t>
            </a:r>
            <a:r>
              <a:rPr lang="en-US" sz="1800" dirty="0" err="1">
                <a:cs typeface="B Nazanin" panose="00000400000000000000" pitchFamily="2" charset="-78"/>
              </a:rPr>
              <a:t>عدم</a:t>
            </a:r>
            <a:r>
              <a:rPr lang="en-US" sz="1800" dirty="0">
                <a:cs typeface="B Nazanin" panose="00000400000000000000" pitchFamily="2" charset="-78"/>
              </a:rPr>
              <a:t> </a:t>
            </a:r>
            <a:r>
              <a:rPr lang="en-US" sz="1800" dirty="0" err="1">
                <a:cs typeface="B Nazanin" panose="00000400000000000000" pitchFamily="2" charset="-78"/>
              </a:rPr>
              <a:t>اطمینان</a:t>
            </a:r>
            <a:r>
              <a:rPr lang="en-US" sz="1800" dirty="0">
                <a:cs typeface="B Nazanin" panose="00000400000000000000" pitchFamily="2" charset="-78"/>
              </a:rPr>
              <a:t> </a:t>
            </a:r>
            <a:r>
              <a:rPr lang="en-US" sz="1800" dirty="0" err="1">
                <a:cs typeface="B Nazanin" panose="00000400000000000000" pitchFamily="2" charset="-78"/>
              </a:rPr>
              <a:t>اقتصادی</a:t>
            </a:r>
            <a:r>
              <a:rPr lang="en-US" sz="1800" dirty="0">
                <a:cs typeface="B Nazanin" panose="00000400000000000000" pitchFamily="2" charset="-78"/>
              </a:rPr>
              <a:t> و </a:t>
            </a:r>
            <a:r>
              <a:rPr lang="en-US" sz="1800" dirty="0" err="1">
                <a:cs typeface="B Nazanin" panose="00000400000000000000" pitchFamily="2" charset="-78"/>
              </a:rPr>
              <a:t>ژئوپلیتیکی</a:t>
            </a:r>
            <a:r>
              <a:rPr lang="en-US" sz="1800" dirty="0">
                <a:cs typeface="B Nazanin" panose="00000400000000000000" pitchFamily="2" charset="-78"/>
              </a:rPr>
              <a:t> </a:t>
            </a:r>
            <a:r>
              <a:rPr lang="en-US" sz="1800" dirty="0" err="1">
                <a:cs typeface="B Nazanin" panose="00000400000000000000" pitchFamily="2" charset="-78"/>
              </a:rPr>
              <a:t>مورد</a:t>
            </a:r>
            <a:r>
              <a:rPr lang="en-US" sz="1800" dirty="0">
                <a:cs typeface="B Nazanin" panose="00000400000000000000" pitchFamily="2" charset="-78"/>
              </a:rPr>
              <a:t> </a:t>
            </a:r>
            <a:r>
              <a:rPr lang="en-US" sz="1800" dirty="0" err="1">
                <a:cs typeface="B Nazanin" panose="00000400000000000000" pitchFamily="2" charset="-78"/>
              </a:rPr>
              <a:t>توجه</a:t>
            </a:r>
            <a:r>
              <a:rPr lang="en-US" sz="1800" dirty="0">
                <a:cs typeface="B Nazanin" panose="00000400000000000000" pitchFamily="2" charset="-78"/>
              </a:rPr>
              <a:t> </a:t>
            </a:r>
            <a:r>
              <a:rPr lang="en-US" sz="1800" dirty="0" err="1">
                <a:cs typeface="B Nazanin" panose="00000400000000000000" pitchFamily="2" charset="-78"/>
              </a:rPr>
              <a:t>قرار</a:t>
            </a:r>
            <a:r>
              <a:rPr lang="en-US" sz="1800" dirty="0">
                <a:cs typeface="B Nazanin" panose="00000400000000000000" pitchFamily="2" charset="-78"/>
              </a:rPr>
              <a:t> </a:t>
            </a:r>
            <a:r>
              <a:rPr lang="en-US" sz="1800" dirty="0" err="1">
                <a:cs typeface="B Nazanin" panose="00000400000000000000" pitchFamily="2" charset="-78"/>
              </a:rPr>
              <a:t>می‌گیرد</a:t>
            </a:r>
            <a:r>
              <a:rPr lang="en-US" sz="1800" dirty="0">
                <a:cs typeface="B Nazanin" panose="00000400000000000000" pitchFamily="2" charset="-78"/>
              </a:rPr>
              <a:t>، </a:t>
            </a:r>
            <a:r>
              <a:rPr lang="en-US" sz="1800" dirty="0" err="1">
                <a:cs typeface="B Nazanin" panose="00000400000000000000" pitchFamily="2" charset="-78"/>
              </a:rPr>
              <a:t>عوامل</a:t>
            </a:r>
            <a:r>
              <a:rPr lang="en-US" sz="1800" dirty="0">
                <a:cs typeface="B Nazanin" panose="00000400000000000000" pitchFamily="2" charset="-78"/>
              </a:rPr>
              <a:t> </a:t>
            </a:r>
            <a:r>
              <a:rPr lang="en-US" sz="1800" dirty="0" err="1">
                <a:cs typeface="B Nazanin" panose="00000400000000000000" pitchFamily="2" charset="-78"/>
              </a:rPr>
              <a:t>فعلی</a:t>
            </a:r>
            <a:r>
              <a:rPr lang="en-US" sz="1800" dirty="0">
                <a:cs typeface="B Nazanin" panose="00000400000000000000" pitchFamily="2" charset="-78"/>
              </a:rPr>
              <a:t> </a:t>
            </a:r>
            <a:r>
              <a:rPr lang="en-US" sz="1800" dirty="0" err="1">
                <a:cs typeface="B Nazanin" panose="00000400000000000000" pitchFamily="2" charset="-78"/>
              </a:rPr>
              <a:t>مانند</a:t>
            </a:r>
            <a:r>
              <a:rPr lang="en-US" sz="1800" dirty="0">
                <a:cs typeface="B Nazanin" panose="00000400000000000000" pitchFamily="2" charset="-78"/>
              </a:rPr>
              <a:t> </a:t>
            </a:r>
            <a:r>
              <a:rPr lang="en-US" sz="1800" dirty="0" err="1">
                <a:cs typeface="B Nazanin" panose="00000400000000000000" pitchFamily="2" charset="-78"/>
              </a:rPr>
              <a:t>سیاست‌های</a:t>
            </a:r>
            <a:r>
              <a:rPr lang="en-US" sz="1800" dirty="0">
                <a:cs typeface="B Nazanin" panose="00000400000000000000" pitchFamily="2" charset="-78"/>
              </a:rPr>
              <a:t> </a:t>
            </a:r>
            <a:r>
              <a:rPr lang="en-US" sz="1800" dirty="0" err="1">
                <a:cs typeface="B Nazanin" panose="00000400000000000000" pitchFamily="2" charset="-78"/>
              </a:rPr>
              <a:t>پولی</a:t>
            </a:r>
            <a:r>
              <a:rPr lang="en-US" sz="1800" dirty="0">
                <a:cs typeface="B Nazanin" panose="00000400000000000000" pitchFamily="2" charset="-78"/>
              </a:rPr>
              <a:t> </a:t>
            </a:r>
            <a:r>
              <a:rPr lang="en-US" sz="1800" dirty="0" err="1">
                <a:cs typeface="B Nazanin" panose="00000400000000000000" pitchFamily="2" charset="-78"/>
              </a:rPr>
              <a:t>آمریکا</a:t>
            </a:r>
            <a:r>
              <a:rPr lang="en-US" sz="1800" dirty="0">
                <a:cs typeface="B Nazanin" panose="00000400000000000000" pitchFamily="2" charset="-78"/>
              </a:rPr>
              <a:t> </a:t>
            </a:r>
            <a:r>
              <a:rPr lang="en-US" sz="1800" dirty="0" err="1">
                <a:cs typeface="B Nazanin" panose="00000400000000000000" pitchFamily="2" charset="-78"/>
              </a:rPr>
              <a:t>در</a:t>
            </a:r>
            <a:r>
              <a:rPr lang="en-US" sz="1800" dirty="0">
                <a:cs typeface="B Nazanin" panose="00000400000000000000" pitchFamily="2" charset="-78"/>
              </a:rPr>
              <a:t> </a:t>
            </a:r>
            <a:r>
              <a:rPr lang="en-US" sz="1800" dirty="0" err="1">
                <a:cs typeface="B Nazanin" panose="00000400000000000000" pitchFamily="2" charset="-78"/>
              </a:rPr>
              <a:t>حال</a:t>
            </a:r>
            <a:r>
              <a:rPr lang="en-US" sz="1800" dirty="0">
                <a:cs typeface="B Nazanin" panose="00000400000000000000" pitchFamily="2" charset="-78"/>
              </a:rPr>
              <a:t> </a:t>
            </a:r>
            <a:r>
              <a:rPr lang="en-US" sz="1800" dirty="0" err="1">
                <a:cs typeface="B Nazanin" panose="00000400000000000000" pitchFamily="2" charset="-78"/>
              </a:rPr>
              <a:t>حاضر</a:t>
            </a:r>
            <a:r>
              <a:rPr lang="en-US" sz="1800" dirty="0">
                <a:cs typeface="B Nazanin" panose="00000400000000000000" pitchFamily="2" charset="-78"/>
              </a:rPr>
              <a:t> </a:t>
            </a:r>
            <a:r>
              <a:rPr lang="en-US" sz="1800" dirty="0" err="1">
                <a:cs typeface="B Nazanin" panose="00000400000000000000" pitchFamily="2" charset="-78"/>
              </a:rPr>
              <a:t>بر</a:t>
            </a:r>
            <a:r>
              <a:rPr lang="en-US" sz="1800" dirty="0">
                <a:cs typeface="B Nazanin" panose="00000400000000000000" pitchFamily="2" charset="-78"/>
              </a:rPr>
              <a:t> </a:t>
            </a:r>
            <a:r>
              <a:rPr lang="en-US" sz="1800" dirty="0" err="1">
                <a:cs typeface="B Nazanin" panose="00000400000000000000" pitchFamily="2" charset="-78"/>
              </a:rPr>
              <a:t>آن</a:t>
            </a:r>
            <a:r>
              <a:rPr lang="en-US" sz="1800" dirty="0">
                <a:cs typeface="B Nazanin" panose="00000400000000000000" pitchFamily="2" charset="-78"/>
              </a:rPr>
              <a:t> </a:t>
            </a:r>
            <a:r>
              <a:rPr lang="en-US" sz="1800" dirty="0" err="1">
                <a:cs typeface="B Nazanin" panose="00000400000000000000" pitchFamily="2" charset="-78"/>
              </a:rPr>
              <a:t>غلبه</a:t>
            </a:r>
            <a:r>
              <a:rPr lang="en-US" sz="1800" dirty="0">
                <a:cs typeface="B Nazanin" panose="00000400000000000000" pitchFamily="2" charset="-78"/>
              </a:rPr>
              <a:t> </a:t>
            </a:r>
            <a:r>
              <a:rPr lang="en-US" sz="1800" dirty="0" err="1">
                <a:cs typeface="B Nazanin" panose="00000400000000000000" pitchFamily="2" charset="-78"/>
              </a:rPr>
              <a:t>کرده‌اند</a:t>
            </a:r>
            <a:r>
              <a:rPr lang="en-US" sz="1800" dirty="0">
                <a:cs typeface="B Nazanin" panose="00000400000000000000" pitchFamily="2" charset="-78"/>
              </a:rPr>
              <a:t>.</a:t>
            </a:r>
          </a:p>
          <a:p>
            <a:pPr algn="r" rtl="1"/>
            <a:r>
              <a:rPr lang="en-US" sz="1800" b="1" dirty="0" err="1">
                <a:cs typeface="B Nazanin" panose="00000400000000000000" pitchFamily="2" charset="-78"/>
              </a:rPr>
              <a:t>نکته</a:t>
            </a:r>
            <a:r>
              <a:rPr lang="en-US" sz="1800" b="1" dirty="0">
                <a:cs typeface="B Nazanin" panose="00000400000000000000" pitchFamily="2" charset="-78"/>
              </a:rPr>
              <a:t>:</a:t>
            </a:r>
            <a:r>
              <a:rPr lang="en-US" sz="1800" dirty="0">
                <a:cs typeface="B Nazanin" panose="00000400000000000000" pitchFamily="2" charset="-78"/>
              </a:rPr>
              <a:t> </a:t>
            </a:r>
            <a:r>
              <a:rPr lang="en-US" sz="1800" dirty="0" err="1">
                <a:cs typeface="B Nazanin" panose="00000400000000000000" pitchFamily="2" charset="-78"/>
              </a:rPr>
              <a:t>اطلاعات</a:t>
            </a:r>
            <a:r>
              <a:rPr lang="en-US" sz="1800" dirty="0">
                <a:cs typeface="B Nazanin" panose="00000400000000000000" pitchFamily="2" charset="-78"/>
              </a:rPr>
              <a:t> </a:t>
            </a:r>
            <a:r>
              <a:rPr lang="en-US" sz="1800" dirty="0" err="1">
                <a:cs typeface="B Nazanin" panose="00000400000000000000" pitchFamily="2" charset="-78"/>
              </a:rPr>
              <a:t>ارائه</a:t>
            </a:r>
            <a:r>
              <a:rPr lang="en-US" sz="1800" dirty="0">
                <a:cs typeface="B Nazanin" panose="00000400000000000000" pitchFamily="2" charset="-78"/>
              </a:rPr>
              <a:t> </a:t>
            </a:r>
            <a:r>
              <a:rPr lang="en-US" sz="1800" dirty="0" err="1">
                <a:cs typeface="B Nazanin" panose="00000400000000000000" pitchFamily="2" charset="-78"/>
              </a:rPr>
              <a:t>شده</a:t>
            </a:r>
            <a:r>
              <a:rPr lang="en-US" sz="1800" dirty="0">
                <a:cs typeface="B Nazanin" panose="00000400000000000000" pitchFamily="2" charset="-78"/>
              </a:rPr>
              <a:t> </a:t>
            </a:r>
            <a:r>
              <a:rPr lang="en-US" sz="1800" dirty="0" err="1">
                <a:cs typeface="B Nazanin" panose="00000400000000000000" pitchFamily="2" charset="-78"/>
              </a:rPr>
              <a:t>بر</a:t>
            </a:r>
            <a:r>
              <a:rPr lang="en-US" sz="1800" dirty="0">
                <a:cs typeface="B Nazanin" panose="00000400000000000000" pitchFamily="2" charset="-78"/>
              </a:rPr>
              <a:t> </a:t>
            </a:r>
            <a:r>
              <a:rPr lang="en-US" sz="1800" dirty="0" err="1">
                <a:cs typeface="B Nazanin" panose="00000400000000000000" pitchFamily="2" charset="-78"/>
              </a:rPr>
              <a:t>اساس</a:t>
            </a:r>
            <a:r>
              <a:rPr lang="en-US" sz="1800" dirty="0">
                <a:cs typeface="B Nazanin" panose="00000400000000000000" pitchFamily="2" charset="-78"/>
              </a:rPr>
              <a:t> داده‌های </a:t>
            </a:r>
            <a:r>
              <a:rPr lang="en-US" sz="1800" dirty="0" err="1">
                <a:cs typeface="B Nazanin" panose="00000400000000000000" pitchFamily="2" charset="-78"/>
              </a:rPr>
              <a:t>موجود</a:t>
            </a:r>
            <a:r>
              <a:rPr lang="en-US" sz="1800" dirty="0">
                <a:cs typeface="B Nazanin" panose="00000400000000000000" pitchFamily="2" charset="-78"/>
              </a:rPr>
              <a:t> </a:t>
            </a:r>
            <a:r>
              <a:rPr lang="en-US" sz="1800" dirty="0" err="1">
                <a:cs typeface="B Nazanin" panose="00000400000000000000" pitchFamily="2" charset="-78"/>
              </a:rPr>
              <a:t>است</a:t>
            </a:r>
            <a:r>
              <a:rPr lang="en-US" sz="1800" dirty="0">
                <a:cs typeface="B Nazanin" panose="00000400000000000000" pitchFamily="2" charset="-78"/>
              </a:rPr>
              <a:t> و </a:t>
            </a:r>
            <a:r>
              <a:rPr lang="en-US" sz="1800" dirty="0" err="1">
                <a:cs typeface="B Nazanin" panose="00000400000000000000" pitchFamily="2" charset="-78"/>
              </a:rPr>
              <a:t>بازار</a:t>
            </a:r>
            <a:r>
              <a:rPr lang="en-US" sz="1800" dirty="0">
                <a:cs typeface="B Nazanin" panose="00000400000000000000" pitchFamily="2" charset="-78"/>
              </a:rPr>
              <a:t> </a:t>
            </a:r>
            <a:r>
              <a:rPr lang="en-US" sz="1800" dirty="0" err="1">
                <a:cs typeface="B Nazanin" panose="00000400000000000000" pitchFamily="2" charset="-78"/>
              </a:rPr>
              <a:t>طلا</a:t>
            </a:r>
            <a:r>
              <a:rPr lang="en-US" sz="1800" dirty="0">
                <a:cs typeface="B Nazanin" panose="00000400000000000000" pitchFamily="2" charset="-78"/>
              </a:rPr>
              <a:t> </a:t>
            </a:r>
            <a:r>
              <a:rPr lang="en-US" sz="1800" dirty="0" err="1">
                <a:cs typeface="B Nazanin" panose="00000400000000000000" pitchFamily="2" charset="-78"/>
              </a:rPr>
              <a:t>می‌تواند</a:t>
            </a:r>
            <a:r>
              <a:rPr lang="en-US" sz="1800" dirty="0">
                <a:cs typeface="B Nazanin" panose="00000400000000000000" pitchFamily="2" charset="-78"/>
              </a:rPr>
              <a:t> </a:t>
            </a:r>
            <a:r>
              <a:rPr lang="en-US" sz="1800" dirty="0" err="1">
                <a:cs typeface="B Nazanin" panose="00000400000000000000" pitchFamily="2" charset="-78"/>
              </a:rPr>
              <a:t>به</a:t>
            </a:r>
            <a:r>
              <a:rPr lang="en-US" sz="1800" dirty="0">
                <a:cs typeface="B Nazanin" panose="00000400000000000000" pitchFamily="2" charset="-78"/>
              </a:rPr>
              <a:t> </a:t>
            </a:r>
            <a:r>
              <a:rPr lang="en-US" sz="1800" dirty="0" err="1">
                <a:cs typeface="B Nazanin" panose="00000400000000000000" pitchFamily="2" charset="-78"/>
              </a:rPr>
              <a:t>سرعت</a:t>
            </a:r>
            <a:r>
              <a:rPr lang="en-US" sz="1800" dirty="0">
                <a:cs typeface="B Nazanin" panose="00000400000000000000" pitchFamily="2" charset="-78"/>
              </a:rPr>
              <a:t> </a:t>
            </a:r>
            <a:r>
              <a:rPr lang="en-US" sz="1800" dirty="0" err="1">
                <a:cs typeface="B Nazanin" panose="00000400000000000000" pitchFamily="2" charset="-78"/>
              </a:rPr>
              <a:t>تغییر</a:t>
            </a:r>
            <a:r>
              <a:rPr lang="en-US" sz="1800" dirty="0">
                <a:cs typeface="B Nazanin" panose="00000400000000000000" pitchFamily="2" charset="-78"/>
              </a:rPr>
              <a:t> </a:t>
            </a:r>
            <a:r>
              <a:rPr lang="en-US" sz="1800" dirty="0" err="1">
                <a:cs typeface="B Nazanin" panose="00000400000000000000" pitchFamily="2" charset="-78"/>
              </a:rPr>
              <a:t>کند</a:t>
            </a:r>
            <a:r>
              <a:rPr lang="en-US" sz="1800" dirty="0">
                <a:cs typeface="B Nazanin" panose="00000400000000000000" pitchFamily="2" charset="-78"/>
              </a:rPr>
              <a:t>.</a:t>
            </a:r>
          </a:p>
          <a:p>
            <a:pPr algn="r" rtl="1"/>
            <a:endParaRPr lang="en-US" sz="1800" dirty="0">
              <a:cs typeface="B Nazanin" panose="00000400000000000000" pitchFamily="2" charset="-78"/>
            </a:endParaRPr>
          </a:p>
        </p:txBody>
      </p:sp>
      <p:sp>
        <p:nvSpPr>
          <p:cNvPr id="4" name="Slide Number Placeholder 3">
            <a:extLst>
              <a:ext uri="{FF2B5EF4-FFF2-40B4-BE49-F238E27FC236}">
                <a16:creationId xmlns:a16="http://schemas.microsoft.com/office/drawing/2014/main" id="{A5A26FDA-14DE-02AE-D051-B0ABB8E36EF3}"/>
              </a:ext>
            </a:extLst>
          </p:cNvPr>
          <p:cNvSpPr>
            <a:spLocks noGrp="1"/>
          </p:cNvSpPr>
          <p:nvPr>
            <p:ph type="sldNum" sz="quarter" idx="12"/>
          </p:nvPr>
        </p:nvSpPr>
        <p:spPr/>
        <p:txBody>
          <a:bodyPr/>
          <a:lstStyle/>
          <a:p>
            <a:fld id="{C1FF6DA9-008F-8B48-92A6-B652298478BF}" type="slidenum">
              <a:rPr lang="en-US" smtClean="0"/>
              <a:t>13</a:t>
            </a:fld>
            <a:endParaRPr lang="en-US"/>
          </a:p>
        </p:txBody>
      </p:sp>
    </p:spTree>
    <p:extLst>
      <p:ext uri="{BB962C8B-B14F-4D97-AF65-F5344CB8AC3E}">
        <p14:creationId xmlns:p14="http://schemas.microsoft.com/office/powerpoint/2010/main" val="4185059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&amp; Solutions</a:t>
            </a:r>
          </a:p>
        </p:txBody>
      </p:sp>
      <p:sp>
        <p:nvSpPr>
          <p:cNvPr id="3" name="Content Placeholder 2"/>
          <p:cNvSpPr>
            <a:spLocks noGrp="1"/>
          </p:cNvSpPr>
          <p:nvPr>
            <p:ph idx="1"/>
          </p:nvPr>
        </p:nvSpPr>
        <p:spPr/>
        <p:txBody>
          <a:bodyPr/>
          <a:lstStyle/>
          <a:p>
            <a:r>
              <a:rPr dirty="0"/>
              <a:t>API rate limits </a:t>
            </a:r>
            <a:r>
              <a:rPr lang="en-US" dirty="0">
                <a:solidFill>
                  <a:srgbClr val="FF0000"/>
                </a:solidFill>
              </a:rPr>
              <a:t>→</a:t>
            </a:r>
            <a:r>
              <a:rPr dirty="0"/>
              <a:t> Alpha Vantage</a:t>
            </a:r>
          </a:p>
          <a:p>
            <a:r>
              <a:rPr dirty="0"/>
              <a:t>Gemini quota limits </a:t>
            </a:r>
            <a:r>
              <a:rPr lang="en-US" dirty="0">
                <a:solidFill>
                  <a:srgbClr val="FF0000"/>
                </a:solidFill>
              </a:rPr>
              <a:t>→</a:t>
            </a:r>
            <a:r>
              <a:rPr dirty="0"/>
              <a:t> Retry/Fallback</a:t>
            </a:r>
          </a:p>
          <a:p>
            <a:r>
              <a:rPr dirty="0"/>
              <a:t>History persistence </a:t>
            </a:r>
            <a:r>
              <a:rPr dirty="0">
                <a:solidFill>
                  <a:srgbClr val="FF0000"/>
                </a:solidFill>
              </a:rPr>
              <a:t>→</a:t>
            </a:r>
            <a:r>
              <a:rPr dirty="0"/>
              <a:t> JSON storage</a:t>
            </a:r>
            <a:endParaRPr lang="en-US" dirty="0"/>
          </a:p>
          <a:p>
            <a:r>
              <a:rPr lang="en-US" dirty="0"/>
              <a:t>Sanction Restrictions </a:t>
            </a:r>
            <a:r>
              <a:rPr lang="en-US" dirty="0">
                <a:solidFill>
                  <a:srgbClr val="FF0000"/>
                </a:solidFill>
              </a:rPr>
              <a:t>→ </a:t>
            </a:r>
            <a:r>
              <a:rPr lang="en-US" dirty="0"/>
              <a:t>VPN</a:t>
            </a:r>
            <a:endParaRPr dirty="0"/>
          </a:p>
        </p:txBody>
      </p:sp>
      <p:sp>
        <p:nvSpPr>
          <p:cNvPr id="5" name="Slide Number Placeholder 4">
            <a:extLst>
              <a:ext uri="{FF2B5EF4-FFF2-40B4-BE49-F238E27FC236}">
                <a16:creationId xmlns:a16="http://schemas.microsoft.com/office/drawing/2014/main" id="{6EABDA5C-A6DE-69AF-DD47-44E6C4EF6305}"/>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Improvements</a:t>
            </a:r>
          </a:p>
        </p:txBody>
      </p:sp>
      <p:sp>
        <p:nvSpPr>
          <p:cNvPr id="3" name="Content Placeholder 2"/>
          <p:cNvSpPr>
            <a:spLocks noGrp="1"/>
          </p:cNvSpPr>
          <p:nvPr>
            <p:ph idx="1"/>
          </p:nvPr>
        </p:nvSpPr>
        <p:spPr/>
        <p:txBody>
          <a:bodyPr/>
          <a:lstStyle/>
          <a:p>
            <a:r>
              <a:rPr dirty="0"/>
              <a:t>Technical indicators</a:t>
            </a:r>
            <a:r>
              <a:rPr lang="en-US" dirty="0"/>
              <a:t> (MA, RSI, MACD, …)</a:t>
            </a:r>
            <a:endParaRPr dirty="0"/>
          </a:p>
          <a:p>
            <a:r>
              <a:rPr dirty="0"/>
              <a:t>Sentiment analysis</a:t>
            </a:r>
          </a:p>
          <a:p>
            <a:r>
              <a:rPr dirty="0"/>
              <a:t>Multi-agent architecture</a:t>
            </a:r>
          </a:p>
          <a:p>
            <a:r>
              <a:rPr dirty="0"/>
              <a:t>Portfolio recommendations</a:t>
            </a:r>
          </a:p>
        </p:txBody>
      </p:sp>
      <p:sp>
        <p:nvSpPr>
          <p:cNvPr id="4" name="Slide Number Placeholder 3">
            <a:extLst>
              <a:ext uri="{FF2B5EF4-FFF2-40B4-BE49-F238E27FC236}">
                <a16:creationId xmlns:a16="http://schemas.microsoft.com/office/drawing/2014/main" id="{0E7574C7-EF11-D8FC-AB70-E1024E75B036}"/>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Gold Analysis Agent combines market data, news, and LLM reasoning to generate understandable gold-market insights.</a:t>
            </a:r>
          </a:p>
        </p:txBody>
      </p:sp>
      <p:sp>
        <p:nvSpPr>
          <p:cNvPr id="4" name="Slide Number Placeholder 3">
            <a:extLst>
              <a:ext uri="{FF2B5EF4-FFF2-40B4-BE49-F238E27FC236}">
                <a16:creationId xmlns:a16="http://schemas.microsoft.com/office/drawing/2014/main" id="{C6AE42EC-7BEA-96A2-FEA3-D5940BA857D9}"/>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380</TotalTime>
  <Words>1584</Words>
  <Application>Microsoft Office PowerPoint</Application>
  <PresentationFormat>On-screen Show (4:3)</PresentationFormat>
  <Paragraphs>117</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 Nazanin</vt:lpstr>
      <vt:lpstr>Calibri</vt:lpstr>
      <vt:lpstr>Office Theme</vt:lpstr>
      <vt:lpstr>Gold Analysis Agent</vt:lpstr>
      <vt:lpstr>Project Objectives</vt:lpstr>
      <vt:lpstr>PowerPoint Presentation</vt:lpstr>
      <vt:lpstr>Folder Structure</vt:lpstr>
      <vt:lpstr>Market Data Module</vt:lpstr>
      <vt:lpstr>PowerPoint Presentation</vt:lpstr>
      <vt:lpstr>News Analysis Module</vt:lpstr>
      <vt:lpstr>LLM Engine</vt:lpstr>
      <vt:lpstr>Streamlit Interface</vt:lpstr>
      <vt:lpstr>Sample Prompt #1</vt:lpstr>
      <vt:lpstr>Sample Prompt #2</vt:lpstr>
      <vt:lpstr>Sample Prompt #3</vt:lpstr>
      <vt:lpstr>Sample Prompt #4</vt:lpstr>
      <vt:lpstr>Challenges &amp; Solutions</vt:lpstr>
      <vt:lpstr>Future Improvements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Hadi Sabahi</cp:lastModifiedBy>
  <cp:revision>9</cp:revision>
  <dcterms:created xsi:type="dcterms:W3CDTF">2013-01-27T09:14:16Z</dcterms:created>
  <dcterms:modified xsi:type="dcterms:W3CDTF">2026-06-24T20:09:46Z</dcterms:modified>
  <cp:category/>
</cp:coreProperties>
</file>